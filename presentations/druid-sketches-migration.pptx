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43484" y="12344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Migrating Druid sketches to ClickHouse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443484" y="2606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 and HLL sketches: how they work, how each engine stores aggregation state, and how to move them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169664"/>
            <a:ext cx="2468880" cy="402336"/>
          </a:xfrm>
          <a:prstGeom prst="rect">
            <a:avLst/>
          </a:prstGeom>
          <a:solidFill>
            <a:srgbClr val="151515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October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steps from sketch theory to a working migration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68580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024128"/>
            <a:ext cx="6858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" y="104241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are datasketches?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42416" y="13898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 and HLL, and when to use which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19456" y="2048256"/>
            <a:ext cx="68580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" y="2048256"/>
            <a:ext cx="6858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" y="2066544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Aggregation in Druid and ClickHouse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42416" y="24140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Rollup vs AggregatingMergeTree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19456" y="3072384"/>
            <a:ext cx="68580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9456" y="3072384"/>
            <a:ext cx="6858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42416" y="309067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Migrating theta sketches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42416" y="343814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bytes, one extra header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09160" y="1024128"/>
            <a:ext cx="68580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09160" y="1024128"/>
            <a:ext cx="6858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5532120" y="104241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an HLL sketch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532120" y="13898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formats vs uniqHLL12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709160" y="2048256"/>
            <a:ext cx="68580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709160" y="2048256"/>
            <a:ext cx="6858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532120" y="2066544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Migrating HLL sketches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32120" y="24140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Finalized values or transplanted state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709160" y="3072384"/>
            <a:ext cx="68580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09160" y="3072384"/>
            <a:ext cx="68580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5532120" y="309067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343814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 pick, and what to avoid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Glossary: HLL terms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words that every HLL format discussion depends 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1280160" cy="57607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024128"/>
            <a:ext cx="128016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lgK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024128"/>
            <a:ext cx="72786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log2 of the number of buckets K. lgK = 12 means 4096 registers. Higher lgK: more accuracy (error ≈ 1.04/√K), more memory. Druid: 4–21 per column; ClickHouse: fixed at 12.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9456" y="1645920"/>
            <a:ext cx="1280160" cy="576072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9456" y="1645920"/>
            <a:ext cx="128016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1645920"/>
            <a:ext cx="72786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small counter per bucket, holding the highest rank seen for any value that hashed there. The full array of registers is the dense sketch. Druid: 4, 6 or 8 bits wide. ClickHouse: 5 bits.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9456" y="2267712"/>
            <a:ext cx="1280160" cy="57607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9456" y="2267712"/>
            <a:ext cx="128016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645920" y="2267712"/>
            <a:ext cx="72786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Leading zeros in a value's hash bits, plus one. A rank of r turns up with probability 2^−r, so high ranks signal many distinct values. Druid allows up to ~63; ClickHouse caps it at 21.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19456" y="2889504"/>
            <a:ext cx="1280160" cy="576072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19456" y="2889504"/>
            <a:ext cx="128016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2889504"/>
            <a:ext cx="72786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hash bits that pick a value's bucket. In a Druid coupon it is a 26-bit field; the register index is its low lgK bits (slot &amp; (2^lgK − 1)), which is why lgK 14 can fold to 12.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19456" y="3511296"/>
            <a:ext cx="1280160" cy="57607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19456" y="3511296"/>
            <a:ext cx="128016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45920" y="3511296"/>
            <a:ext cx="72786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Druid's sparse-mode entry: one UInt32 packing slot (bits 0–25) and rank (bits 26–31). Small sketches store coupons instead of a full register array. Not a raw hash: keys can't be recovered.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Glossary: theta and ClickHouse terms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terms used in this deck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4215384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" y="1115568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(theta)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1408176"/>
            <a:ext cx="3941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sampling threshold of a theta sketch. Only hashes below θ are kept; estimate = retained / θ.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1024128"/>
            <a:ext cx="4215384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115568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 (nominal entries)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408176"/>
            <a:ext cx="3941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hashes a theta sketch aims to keep. Druid: size. ClickHouse: fixed at 4096.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9456" y="2084832"/>
            <a:ext cx="4215384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616" y="2176272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hash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" y="2468880"/>
            <a:ext cx="3941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16-bit fingerprint of the hash seed in the theta preamble. 37836 = default seed 9001.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709160" y="2084832"/>
            <a:ext cx="4215384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46320" y="2176272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 vs dense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846320" y="2468880"/>
            <a:ext cx="3941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Sparse: coupon list (LIST/SET), while few values are seen. Dense: full register array (HLL).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19456" y="3145536"/>
            <a:ext cx="4215384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56616" y="32369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 state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56616" y="3529584"/>
            <a:ext cx="3941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Partial result in an AggregateFunction column. Built with -State, finalized with -Merge.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709160" y="3145536"/>
            <a:ext cx="4215384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846320" y="323697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LEB128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46320" y="3529584"/>
            <a:ext cx="3941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Variable-length integer, 7 bits per byte. The length prefix of a uniqTheta state.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200" dirty="0"/>
          </a:p>
        </p:txBody>
      </p:sp>
      <p:sp>
        <p:nvSpPr>
          <p:cNvPr id="9" name="Text 5"/>
          <p:cNvSpPr txBox="1"/>
          <p:nvPr/>
        </p:nvSpPr>
        <p:spPr>
          <a:xfrm>
            <a:off x="1627632" y="1325880"/>
            <a:ext cx="72969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are datasketches?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19456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mergeable summaries that answer "how many distinct?" without keeping the data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sketches are used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Approximate distinct counts that survive pre-aggregation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8705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sketch is a fixed-size probabilistic summary of a set. Apache DataSketches provides a family of them; this deck focuses on the two used for count-distinct.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19456" y="1645920"/>
            <a:ext cx="2718816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" y="1783080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1755648"/>
            <a:ext cx="1969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 distinct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6616" y="2304288"/>
            <a:ext cx="2444496" cy="16916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Users, sessions, pages per time bucket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instead of the full set of IDs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bounds come with the estimate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12592" y="1645920"/>
            <a:ext cx="2718816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49752" y="1783080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497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52672" y="1755648"/>
            <a:ext cx="1969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Merge across rows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349752" y="2304288"/>
            <a:ext cx="2444496" cy="16916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Union of two sketches = sketch of the union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Hourly rows roll up to daily, per-channel to total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double-counts overlap, unlike summing counts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05728" y="1645920"/>
            <a:ext cx="2718816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42888" y="1783080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4288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845808" y="1755648"/>
            <a:ext cx="1969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operations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342888" y="2304288"/>
            <a:ext cx="2444496" cy="16916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Theta: union, intersection, A-not-B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HLL: union only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like "users seen on both days"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theta sketches work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every value, keep only the smallest k hashes, estimate from the density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3931920" cy="3063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value to a point in [0, 1). Duplicates hash to the same point, so they count once.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hashes below a threshold θ, at most k of them (k = nominal entries).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distinct count ≈ retained / θ. Points are uniform, so density below θ extrapolates.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retained hashes themselves, plus θ. That is what makes set operations possible.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09160" y="1856232"/>
            <a:ext cx="1275588" cy="585216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2148840"/>
            <a:ext cx="4114800" cy="0"/>
          </a:xfrm>
          <a:prstGeom prst="line">
            <a:avLst/>
          </a:prstGeom>
          <a:noFill/>
          <a:ln w="19050">
            <a:solidFill>
              <a:srgbClr val="15151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09744" y="2084832"/>
            <a:ext cx="128016" cy="128016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97780" y="2084832"/>
            <a:ext cx="128016" cy="128016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26964" y="2084832"/>
            <a:ext cx="128016" cy="128016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715000" y="2084832"/>
            <a:ext cx="128016" cy="128016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67628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6812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784848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14032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60920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90104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978140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66176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554212" y="2084832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984748" y="1691640"/>
            <a:ext cx="0" cy="914400"/>
          </a:xfrm>
          <a:prstGeom prst="line">
            <a:avLst/>
          </a:prstGeom>
          <a:noFill/>
          <a:ln w="25400">
            <a:solidFill>
              <a:srgbClr val="15151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27548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= 0.31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617720" y="249631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732520" y="249631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736592" y="2926080"/>
            <a:ext cx="128016" cy="128016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937760" y="2880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retained hash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565392" y="2926080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766560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discarded hash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709160" y="3291840"/>
            <a:ext cx="4114800" cy="45720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09160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0.31 ≈ 13 distinct (truth: 13)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 set operations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Because theta keeps real hash values, sketches from different rows combine exactly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1887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05840" y="1170432"/>
            <a:ext cx="1920240" cy="402336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1371600"/>
            <a:ext cx="3840480" cy="0"/>
          </a:xfrm>
          <a:prstGeom prst="line">
            <a:avLst/>
          </a:prstGeom>
          <a:noFill/>
          <a:ln w="15875">
            <a:solidFill>
              <a:srgbClr val="15151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173882" y="131216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34740" y="131216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10812" y="131216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76833" y="131216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637690" y="131216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98548" y="131216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559406" y="131216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26080" y="1078992"/>
            <a:ext cx="0" cy="585216"/>
          </a:xfrm>
          <a:prstGeom prst="line">
            <a:avLst/>
          </a:prstGeom>
          <a:noFill/>
          <a:ln w="25400">
            <a:solidFill>
              <a:srgbClr val="15151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80944" y="149961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0.5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19456" y="2148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005840" y="2130552"/>
            <a:ext cx="1536192" cy="402336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5840" y="2331720"/>
            <a:ext cx="3840480" cy="0"/>
          </a:xfrm>
          <a:prstGeom prst="line">
            <a:avLst/>
          </a:prstGeom>
          <a:noFill/>
          <a:ln w="15875">
            <a:solidFill>
              <a:srgbClr val="15151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751430" y="22722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404311" y="22722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402836" y="22722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176833" y="227228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445666" y="227228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098548" y="227228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28977" y="227228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542032" y="2039112"/>
            <a:ext cx="0" cy="585216"/>
          </a:xfrm>
          <a:prstGeom prst="line">
            <a:avLst/>
          </a:prstGeom>
          <a:noFill/>
          <a:ln w="25400">
            <a:solidFill>
              <a:srgbClr val="15151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596896" y="245973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0.4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" y="31089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∪ B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1005840" y="3090672"/>
            <a:ext cx="1536192" cy="402336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05840" y="3291840"/>
            <a:ext cx="3840480" cy="0"/>
          </a:xfrm>
          <a:prstGeom prst="line">
            <a:avLst/>
          </a:prstGeom>
          <a:noFill/>
          <a:ln w="15875">
            <a:solidFill>
              <a:srgbClr val="15151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559406" y="323240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76833" y="323240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445666" y="323240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637690" y="323240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098548" y="323240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328977" y="3232404"/>
            <a:ext cx="118872" cy="118872"/>
          </a:xfrm>
          <a:prstGeom prst="ellipse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542032" y="2999232"/>
            <a:ext cx="0" cy="585216"/>
          </a:xfrm>
          <a:prstGeom prst="line">
            <a:avLst/>
          </a:prstGeom>
          <a:noFill/>
          <a:ln w="25400">
            <a:solidFill>
              <a:srgbClr val="151515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596896" y="34198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0.4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166360" y="1024128"/>
            <a:ext cx="3758184" cy="3063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Union: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= min(θA, θB); keep every hash below it from both sides. Shared hashes (0.06, 0.30) collapse into one.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Intersection: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θ, keep hashes present in both.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not B: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θ, keep hashes in A only.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retained / 0.4 ≈ 12.5. Overlap is detected, not double-counted.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HLL sketches work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one small counter per bucket: the longest run of leading zeros seen there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3931920" cy="201168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value; the first p bits pick one of m = 2^p buckets.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leading zeros of the remaining bits + 1. High ranks are rare.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M[j] = max(M[j], rank). Duplicates change nothing.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</a:t>
            </a:r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harmonic mean of the m registers, scaled by the bias-correction factor αₘ.</a:t>
            </a:r>
            <a:endParaRPr lang="en-US" sz="1300" dirty="0"/>
          </a:p>
        </p:txBody>
      </p:sp>
      <p:pic>
        <p:nvPicPr>
          <p:cNvPr id="9" name="Image 1" descr="E = alpha_m m^2 / sum_{j=1}^{m} 2^(-M[j]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3081528"/>
            <a:ext cx="26060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962656" y="3081528"/>
            <a:ext cx="1408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α</a:t>
            </a:r>
            <a:pPr indent="0" marL="0">
              <a:buNone/>
            </a:pPr>
            <a:r>
              <a:rPr lang="en-US" sz="1100" b="1" i="1" baseline="-400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bias-correction factor, ≈ 0.721 for m = 4096. It corrects the raw harmonic mean.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709160" y="1024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hash("alice")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709160" y="1280160"/>
            <a:ext cx="246888" cy="329184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709160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956048" y="1280160"/>
            <a:ext cx="246888" cy="329184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956048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202936" y="1280160"/>
            <a:ext cx="246888" cy="329184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202936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49824" y="1280160"/>
            <a:ext cx="246888" cy="329184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49824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96712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696712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943600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943600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90488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90488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37376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37376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684264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931152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931152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178040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178040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7424928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424928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7671816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671816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7918704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8704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8165592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8165592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8412480" y="128016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412480" y="1280160"/>
            <a:ext cx="246888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4709160" y="16642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 = 0110 = 6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4709160" y="19202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3 zeros and a 1  →  rank 4</a:t>
            </a:r>
            <a:endParaRPr lang="en-US" sz="1200" dirty="0"/>
          </a:p>
        </p:txBody>
      </p:sp>
      <p:sp>
        <p:nvSpPr>
          <p:cNvPr id="46" name="Text 42"/>
          <p:cNvSpPr txBox="1"/>
          <p:nvPr/>
        </p:nvSpPr>
        <p:spPr>
          <a:xfrm>
            <a:off x="4709160" y="22219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registers M[0..15]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4709160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709160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49" name="Text 45"/>
          <p:cNvSpPr txBox="1"/>
          <p:nvPr/>
        </p:nvSpPr>
        <p:spPr>
          <a:xfrm>
            <a:off x="4709160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800" dirty="0"/>
          </a:p>
        </p:txBody>
      </p:sp>
      <p:sp>
        <p:nvSpPr>
          <p:cNvPr id="50" name="Shape 46"/>
          <p:cNvSpPr/>
          <p:nvPr/>
        </p:nvSpPr>
        <p:spPr>
          <a:xfrm>
            <a:off x="4956048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4956048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4956048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53" name="Shape 49"/>
          <p:cNvSpPr/>
          <p:nvPr/>
        </p:nvSpPr>
        <p:spPr>
          <a:xfrm>
            <a:off x="5202936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202936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5202936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56" name="Shape 52"/>
          <p:cNvSpPr/>
          <p:nvPr/>
        </p:nvSpPr>
        <p:spPr>
          <a:xfrm>
            <a:off x="5449824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49824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Text 54"/>
          <p:cNvSpPr txBox="1"/>
          <p:nvPr/>
        </p:nvSpPr>
        <p:spPr>
          <a:xfrm>
            <a:off x="5449824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59" name="Shape 55"/>
          <p:cNvSpPr/>
          <p:nvPr/>
        </p:nvSpPr>
        <p:spPr>
          <a:xfrm>
            <a:off x="5696712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696712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5696712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62" name="Shape 58"/>
          <p:cNvSpPr/>
          <p:nvPr/>
        </p:nvSpPr>
        <p:spPr>
          <a:xfrm>
            <a:off x="5943600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0"/>
          <p:cNvSpPr txBox="1"/>
          <p:nvPr/>
        </p:nvSpPr>
        <p:spPr>
          <a:xfrm>
            <a:off x="5943600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65" name="Shape 61"/>
          <p:cNvSpPr/>
          <p:nvPr/>
        </p:nvSpPr>
        <p:spPr>
          <a:xfrm>
            <a:off x="6190488" y="2514600"/>
            <a:ext cx="246888" cy="3657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0488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6190488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68" name="Shape 64"/>
          <p:cNvSpPr/>
          <p:nvPr/>
        </p:nvSpPr>
        <p:spPr>
          <a:xfrm>
            <a:off x="6437376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437376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0" name="Text 66"/>
          <p:cNvSpPr txBox="1"/>
          <p:nvPr/>
        </p:nvSpPr>
        <p:spPr>
          <a:xfrm>
            <a:off x="6437376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1" name="Shape 67"/>
          <p:cNvSpPr/>
          <p:nvPr/>
        </p:nvSpPr>
        <p:spPr>
          <a:xfrm>
            <a:off x="6684264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6684264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3" name="Text 69"/>
          <p:cNvSpPr txBox="1"/>
          <p:nvPr/>
        </p:nvSpPr>
        <p:spPr>
          <a:xfrm>
            <a:off x="6684264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4" name="Shape 70"/>
          <p:cNvSpPr/>
          <p:nvPr/>
        </p:nvSpPr>
        <p:spPr>
          <a:xfrm>
            <a:off x="6931152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931152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76" name="Text 72"/>
          <p:cNvSpPr txBox="1"/>
          <p:nvPr/>
        </p:nvSpPr>
        <p:spPr>
          <a:xfrm>
            <a:off x="6931152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7" name="Shape 73"/>
          <p:cNvSpPr/>
          <p:nvPr/>
        </p:nvSpPr>
        <p:spPr>
          <a:xfrm>
            <a:off x="7178040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7178040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9" name="Text 75"/>
          <p:cNvSpPr txBox="1"/>
          <p:nvPr/>
        </p:nvSpPr>
        <p:spPr>
          <a:xfrm>
            <a:off x="7178040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80" name="Shape 76"/>
          <p:cNvSpPr/>
          <p:nvPr/>
        </p:nvSpPr>
        <p:spPr>
          <a:xfrm>
            <a:off x="7424928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7424928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82" name="Text 78"/>
          <p:cNvSpPr txBox="1"/>
          <p:nvPr/>
        </p:nvSpPr>
        <p:spPr>
          <a:xfrm>
            <a:off x="7424928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83" name="Shape 79"/>
          <p:cNvSpPr/>
          <p:nvPr/>
        </p:nvSpPr>
        <p:spPr>
          <a:xfrm>
            <a:off x="7671816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671816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5" name="Text 81"/>
          <p:cNvSpPr txBox="1"/>
          <p:nvPr/>
        </p:nvSpPr>
        <p:spPr>
          <a:xfrm>
            <a:off x="7671816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86" name="Shape 82"/>
          <p:cNvSpPr/>
          <p:nvPr/>
        </p:nvSpPr>
        <p:spPr>
          <a:xfrm>
            <a:off x="7918704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18704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8" name="Text 84"/>
          <p:cNvSpPr txBox="1"/>
          <p:nvPr/>
        </p:nvSpPr>
        <p:spPr>
          <a:xfrm>
            <a:off x="7918704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89" name="Shape 85"/>
          <p:cNvSpPr/>
          <p:nvPr/>
        </p:nvSpPr>
        <p:spPr>
          <a:xfrm>
            <a:off x="8165592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8165592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1" name="Text 87"/>
          <p:cNvSpPr txBox="1"/>
          <p:nvPr/>
        </p:nvSpPr>
        <p:spPr>
          <a:xfrm>
            <a:off x="8165592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92" name="Shape 88"/>
          <p:cNvSpPr/>
          <p:nvPr/>
        </p:nvSpPr>
        <p:spPr>
          <a:xfrm>
            <a:off x="8412480" y="251460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412480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4" name="Text 90"/>
          <p:cNvSpPr txBox="1"/>
          <p:nvPr/>
        </p:nvSpPr>
        <p:spPr>
          <a:xfrm>
            <a:off x="8412480" y="2907792"/>
            <a:ext cx="246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95" name="Text 91"/>
          <p:cNvSpPr txBox="1"/>
          <p:nvPr/>
        </p:nvSpPr>
        <p:spPr>
          <a:xfrm>
            <a:off x="4709160" y="33375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max rank per bucket survives. The hashes are gone, so no intersection and no way back to the keys.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HLL sketches are merged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Union is a register-by-register max: cheap, exact, and order-independent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188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68680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68680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115568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15568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62456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62456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609344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609344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856232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6232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103120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103120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350008" y="1188720"/>
            <a:ext cx="246888" cy="3657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50008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596896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96896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843784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43784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090672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90672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3337560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337560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3584448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84448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3831336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831336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078224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078224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4325112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25112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572000" y="1188720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572000" y="1188720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68680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800" dirty="0"/>
          </a:p>
        </p:txBody>
      </p:sp>
      <p:sp>
        <p:nvSpPr>
          <p:cNvPr id="42" name="Text 39"/>
          <p:cNvSpPr txBox="1"/>
          <p:nvPr/>
        </p:nvSpPr>
        <p:spPr>
          <a:xfrm>
            <a:off x="1115568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43" name="Text 40"/>
          <p:cNvSpPr txBox="1"/>
          <p:nvPr/>
        </p:nvSpPr>
        <p:spPr>
          <a:xfrm>
            <a:off x="1362456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1609344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1856232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2103120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 txBox="1"/>
          <p:nvPr/>
        </p:nvSpPr>
        <p:spPr>
          <a:xfrm>
            <a:off x="2350008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2596896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2843784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50" name="Text 47"/>
          <p:cNvSpPr txBox="1"/>
          <p:nvPr/>
        </p:nvSpPr>
        <p:spPr>
          <a:xfrm>
            <a:off x="3090672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3337560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3584448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53" name="Text 50"/>
          <p:cNvSpPr txBox="1"/>
          <p:nvPr/>
        </p:nvSpPr>
        <p:spPr>
          <a:xfrm>
            <a:off x="3831336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4078224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4325112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4572000" y="1005840"/>
            <a:ext cx="246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219456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68680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68680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1115568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115568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62" name="Shape 59"/>
          <p:cNvSpPr/>
          <p:nvPr/>
        </p:nvSpPr>
        <p:spPr>
          <a:xfrm>
            <a:off x="1362456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362456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64" name="Shape 61"/>
          <p:cNvSpPr/>
          <p:nvPr/>
        </p:nvSpPr>
        <p:spPr>
          <a:xfrm>
            <a:off x="1609344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1609344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Shape 63"/>
          <p:cNvSpPr/>
          <p:nvPr/>
        </p:nvSpPr>
        <p:spPr>
          <a:xfrm>
            <a:off x="1856232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1856232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68" name="Shape 65"/>
          <p:cNvSpPr/>
          <p:nvPr/>
        </p:nvSpPr>
        <p:spPr>
          <a:xfrm>
            <a:off x="2103120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2103120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70" name="Shape 67"/>
          <p:cNvSpPr/>
          <p:nvPr/>
        </p:nvSpPr>
        <p:spPr>
          <a:xfrm>
            <a:off x="2350008" y="1901952"/>
            <a:ext cx="246888" cy="3657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2350008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2596896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596896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74" name="Shape 71"/>
          <p:cNvSpPr/>
          <p:nvPr/>
        </p:nvSpPr>
        <p:spPr>
          <a:xfrm>
            <a:off x="2843784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2843784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Shape 73"/>
          <p:cNvSpPr/>
          <p:nvPr/>
        </p:nvSpPr>
        <p:spPr>
          <a:xfrm>
            <a:off x="3090672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3090672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3337560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3337560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80" name="Shape 77"/>
          <p:cNvSpPr/>
          <p:nvPr/>
        </p:nvSpPr>
        <p:spPr>
          <a:xfrm>
            <a:off x="3584448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584448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2" name="Shape 79"/>
          <p:cNvSpPr/>
          <p:nvPr/>
        </p:nvSpPr>
        <p:spPr>
          <a:xfrm>
            <a:off x="3831336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3831336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4078224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078224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Shape 83"/>
          <p:cNvSpPr/>
          <p:nvPr/>
        </p:nvSpPr>
        <p:spPr>
          <a:xfrm>
            <a:off x="4325112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4325112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88" name="Shape 85"/>
          <p:cNvSpPr/>
          <p:nvPr/>
        </p:nvSpPr>
        <p:spPr>
          <a:xfrm>
            <a:off x="4572000" y="19019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572000" y="19019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0" name="Text 87"/>
          <p:cNvSpPr txBox="1"/>
          <p:nvPr/>
        </p:nvSpPr>
        <p:spPr>
          <a:xfrm>
            <a:off x="219456" y="28163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∪ B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868680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68680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1115568" y="2816352"/>
            <a:ext cx="246888" cy="3657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1115568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5" name="Shape 92"/>
          <p:cNvSpPr/>
          <p:nvPr/>
        </p:nvSpPr>
        <p:spPr>
          <a:xfrm>
            <a:off x="1362456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1362456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7" name="Shape 94"/>
          <p:cNvSpPr/>
          <p:nvPr/>
        </p:nvSpPr>
        <p:spPr>
          <a:xfrm>
            <a:off x="1609344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1609344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99" name="Shape 96"/>
          <p:cNvSpPr/>
          <p:nvPr/>
        </p:nvSpPr>
        <p:spPr>
          <a:xfrm>
            <a:off x="1856232" y="2816352"/>
            <a:ext cx="246888" cy="3657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1856232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01" name="Shape 98"/>
          <p:cNvSpPr/>
          <p:nvPr/>
        </p:nvSpPr>
        <p:spPr>
          <a:xfrm>
            <a:off x="2103120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2103120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2350008" y="2816352"/>
            <a:ext cx="246888" cy="3657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2350008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05" name="Shape 102"/>
          <p:cNvSpPr/>
          <p:nvPr/>
        </p:nvSpPr>
        <p:spPr>
          <a:xfrm>
            <a:off x="2596896" y="2816352"/>
            <a:ext cx="246888" cy="3657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596896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07" name="Shape 104"/>
          <p:cNvSpPr/>
          <p:nvPr/>
        </p:nvSpPr>
        <p:spPr>
          <a:xfrm>
            <a:off x="2843784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2843784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3090672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3090672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11" name="Shape 108"/>
          <p:cNvSpPr/>
          <p:nvPr/>
        </p:nvSpPr>
        <p:spPr>
          <a:xfrm>
            <a:off x="3337560" y="2816352"/>
            <a:ext cx="246888" cy="3657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3337560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13" name="Shape 110"/>
          <p:cNvSpPr/>
          <p:nvPr/>
        </p:nvSpPr>
        <p:spPr>
          <a:xfrm>
            <a:off x="3584448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3584448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15" name="Shape 112"/>
          <p:cNvSpPr/>
          <p:nvPr/>
        </p:nvSpPr>
        <p:spPr>
          <a:xfrm>
            <a:off x="3831336" y="2816352"/>
            <a:ext cx="246888" cy="3657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3831336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7" name="Shape 114"/>
          <p:cNvSpPr/>
          <p:nvPr/>
        </p:nvSpPr>
        <p:spPr>
          <a:xfrm>
            <a:off x="4078224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4078224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9" name="Shape 116"/>
          <p:cNvSpPr/>
          <p:nvPr/>
        </p:nvSpPr>
        <p:spPr>
          <a:xfrm>
            <a:off x="4325112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0" name="Text 117"/>
          <p:cNvSpPr txBox="1"/>
          <p:nvPr/>
        </p:nvSpPr>
        <p:spPr>
          <a:xfrm>
            <a:off x="4325112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1" name="Shape 118"/>
          <p:cNvSpPr/>
          <p:nvPr/>
        </p:nvSpPr>
        <p:spPr>
          <a:xfrm>
            <a:off x="4572000" y="2816352"/>
            <a:ext cx="2468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572000" y="2816352"/>
            <a:ext cx="246888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3" name="Text 120"/>
          <p:cNvSpPr txBox="1"/>
          <p:nvPr/>
        </p:nvSpPr>
        <p:spPr>
          <a:xfrm>
            <a:off x="868680" y="234086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max( A[j], B[j] )  for every j</a:t>
            </a:r>
            <a:endParaRPr lang="en-US" sz="1200" dirty="0"/>
          </a:p>
        </p:txBody>
      </p:sp>
      <p:sp>
        <p:nvSpPr>
          <p:cNvPr id="124" name="Shape 121"/>
          <p:cNvSpPr/>
          <p:nvPr/>
        </p:nvSpPr>
        <p:spPr>
          <a:xfrm>
            <a:off x="219456" y="3648456"/>
            <a:ext cx="182880" cy="18288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25" name="Text 122"/>
          <p:cNvSpPr txBox="1"/>
          <p:nvPr/>
        </p:nvSpPr>
        <p:spPr>
          <a:xfrm>
            <a:off x="457200" y="36118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came from B</a:t>
            </a:r>
            <a:endParaRPr lang="en-US" sz="1100" dirty="0"/>
          </a:p>
        </p:txBody>
      </p:sp>
      <p:sp>
        <p:nvSpPr>
          <p:cNvPr id="126" name="Shape 123"/>
          <p:cNvSpPr/>
          <p:nvPr/>
        </p:nvSpPr>
        <p:spPr>
          <a:xfrm>
            <a:off x="2011680" y="3648456"/>
            <a:ext cx="182880" cy="18288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27" name="Text 124"/>
          <p:cNvSpPr txBox="1"/>
          <p:nvPr/>
        </p:nvSpPr>
        <p:spPr>
          <a:xfrm>
            <a:off x="2249424" y="3611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"alice" in both sketches: stays 4</a:t>
            </a:r>
            <a:endParaRPr lang="en-US" sz="1100" dirty="0"/>
          </a:p>
        </p:txBody>
      </p:sp>
      <p:sp>
        <p:nvSpPr>
          <p:cNvPr id="128" name="Text 125"/>
          <p:cNvSpPr txBox="1"/>
          <p:nvPr/>
        </p:nvSpPr>
        <p:spPr>
          <a:xfrm>
            <a:off x="5257800" y="1024128"/>
            <a:ext cx="3666744" cy="3063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works: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key always lands in the same bucket with the same rank, so the max over two sketches is exactly the sketch of the combined input.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Duplicates vanish: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is idempotent. Seeing a key twice, in one sketch or across many, changes nothing.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Order-free: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is commutative and associative, so rows roll up in any order or grouping.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Preconditions: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hash function and seed, and the same lgK. A larger lgK can be folded down first.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SQL: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DS_HLL(col), ClickHouse uniqHLL12Merge(state).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to use each type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 is smaller per unit of accuracy; theta is more flexible and more portable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" y="1024128"/>
          <a:ext cx="8705088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889504"/>
                <a:gridCol w="288950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Theta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HLL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stores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Retained hash values + θ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Max rank per bucket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Size at ~1.6% error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~32–64 KB (k = 4096)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~2–4 KB (lgK = 12)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Intersection, A-not-B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Convert to the other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Theta → HLL possible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HLL → theta impossible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ClickHouse merge after migration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Yes, byte-compatible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via transplant, with caveats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5200" dirty="0"/>
          </a:p>
        </p:txBody>
      </p:sp>
      <p:sp>
        <p:nvSpPr>
          <p:cNvPr id="9" name="Text 5"/>
          <p:cNvSpPr txBox="1"/>
          <p:nvPr/>
        </p:nvSpPr>
        <p:spPr>
          <a:xfrm>
            <a:off x="1627632" y="1325880"/>
            <a:ext cx="72969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Aggregating data in Druid and ClickHouse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19456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engines store partial aggregation state rather than final numbers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Druid: rollup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events are collapsed at ingestion; sketch columns keep the distinct-count state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" y="1024128"/>
          <a:ext cx="2743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channel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10:02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alice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10:17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bob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10:41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alice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10:55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carol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219456" y="2468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events (discarded)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108960" y="1691640"/>
            <a:ext cx="548640" cy="0"/>
          </a:xfrm>
          <a:prstGeom prst="line">
            <a:avLst/>
          </a:prstGeom>
          <a:noFill/>
          <a:ln w="25400">
            <a:solidFill>
              <a:srgbClr val="151515"/>
            </a:solidFill>
            <a:prstDash val="solid"/>
            <a:tailEnd type="triangle"/>
          </a:ln>
        </p:spPr>
      </p:sp>
      <p:sp>
        <p:nvSpPr>
          <p:cNvPr id="11" name="Text 7"/>
          <p:cNvSpPr txBox="1"/>
          <p:nvPr/>
        </p:nvSpPr>
        <p:spPr>
          <a:xfrm>
            <a:off x="3017520" y="1371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</a:t>
            </a:r>
            <a:endParaRPr lang="en-US" sz="11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1024128"/>
          <a:ext cx="5120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73152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__time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channel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count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users_theta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10:00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COMPLEX&lt;thetaSketch&gt;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3794760" y="16459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rolled-up row: 3 distinct users live inside the sketch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219456" y="2743200"/>
            <a:ext cx="8705088" cy="134416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metricsSpec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defines the aggregators: count, longSum, HLLSketchBuild (lgK, tgtHllType), thetaSketch (size).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Stored state: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sketch columns are COMPLEX&lt;HLLSketch&gt; / COMPLEX&lt;thetaSketch&gt;, serialized DataSketches bytes.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MSQ gotcha: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finalizeAggregations: false, or sketch columns silently land as plain numbers.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it out: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SQL returns sketches as base64 inside a quoted JSON string.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ClickHouse: AggregatingMergeTree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intermediate state with -State, combine it at query time with -Merge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5394960" cy="306324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024128"/>
            <a:ext cx="5394960" cy="3063240"/>
          </a:xfrm>
          <a:prstGeom prst="rect">
            <a:avLst/>
          </a:prstGeom>
          <a:noFill/>
          <a:ln/>
        </p:spPr>
        <p:txBody>
          <a:bodyPr wrap="square" lIns="127000" tIns="152400" rIns="152400" bIns="1270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rollup (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ts          DateTime,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channel     String,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cnt         SimpleAggregateFunction(sum, UInt64),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AFF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users_theta AggregateFunction(uniqTheta, String)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ENGINE = AggregatingMergeTree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(channel, ts);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write: build partial state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rollup SELECT toStartOfHour(t), channel,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count(), uniqThetaState(user) FROM events GROUP BY 1, 2;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read: merge states across rows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channel, uniqThetaMerge(users_theta)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rollup GROUP BY channel;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806440" y="1024128"/>
            <a:ext cx="3118104" cy="3063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-State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 the aggregate's internal state, stored in an AggregateFunction(f, T) column.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-Merge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combines states and finalizes the result.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Background merges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 rows with equal ORDER BY keys, just like rollup.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 measures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must be SimpleAggregateFunction(sum, …): the engine rejects bare columns.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5200" dirty="0"/>
          </a:p>
        </p:txBody>
      </p:sp>
      <p:sp>
        <p:nvSpPr>
          <p:cNvPr id="9" name="Text 5"/>
          <p:cNvSpPr txBox="1"/>
          <p:nvPr/>
        </p:nvSpPr>
        <p:spPr>
          <a:xfrm>
            <a:off x="1627632" y="1325880"/>
            <a:ext cx="72969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Migrating theta sketches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19456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Druid's bytes are already a valid ClickHouse uniqTheta state, almost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Basically the same format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sides use Apache DataSketches compact theta sketches with the default seed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2718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37836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219456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" y="2103120"/>
            <a:ext cx="2718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seed hash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19456" y="2414016"/>
            <a:ext cx="2718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sides hash with MurmurHash3, seed 9001. Same key, same hash value, in both systems.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212592" y="1024128"/>
            <a:ext cx="2718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</a:t>
            </a:r>
            <a:endParaRPr lang="en-US" sz="5400" dirty="0"/>
          </a:p>
        </p:txBody>
      </p:sp>
      <p:sp>
        <p:nvSpPr>
          <p:cNvPr id="13" name="Shape 10"/>
          <p:cNvSpPr/>
          <p:nvPr/>
        </p:nvSpPr>
        <p:spPr>
          <a:xfrm>
            <a:off x="3212592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12592" y="2103120"/>
            <a:ext cx="2718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Migrated ∪ native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12592" y="2414016"/>
            <a:ext cx="2718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1000 values: a transcoded Druid sketch unions with a ClickHouse-built one, real dedup.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205728" y="1024128"/>
            <a:ext cx="2718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1500</a:t>
            </a:r>
            <a:endParaRPr lang="en-US" sz="5400" dirty="0"/>
          </a:p>
        </p:txBody>
      </p:sp>
      <p:sp>
        <p:nvSpPr>
          <p:cNvPr id="17" name="Shape 14"/>
          <p:cNvSpPr/>
          <p:nvPr/>
        </p:nvSpPr>
        <p:spPr>
          <a:xfrm>
            <a:off x="6205728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05728" y="2103120"/>
            <a:ext cx="2718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50% overlap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205728" y="2414016"/>
            <a:ext cx="27188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sets of 1000 sharing 500 values: exactly the right answer, in exact mode.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219456" y="3657600"/>
            <a:ext cx="8705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preamble on both sides: preLongs = 2, serVer = 3, family = 3 (COMPACT), flags = 0x1a. No rebuild, no re-hashing.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the header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uniqTheta state is a LEB128 length prefix plus the sketch bytes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97280"/>
            <a:ext cx="1554480" cy="54864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097280"/>
            <a:ext cx="15544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LEB128(len)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773936" y="1097280"/>
            <a:ext cx="3291840" cy="54864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73936" y="1097280"/>
            <a:ext cx="32918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preamble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preLongs=2 · serVer=3 · family=3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flags=0x1a · seed hash 37836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65776" y="1097280"/>
            <a:ext cx="385876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65776" y="1097280"/>
            <a:ext cx="3858768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retained hashes  (UInt64 × N, sorted)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19456" y="1691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for ClickHouse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773936" y="169164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Druid's compact theta sketch, untouched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19456" y="2103120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LEB128 in brief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" y="2423160"/>
            <a:ext cx="4215384" cy="16459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bits per byte, high bit = "more follows"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8016 → D0 3E,  16384 → 80 80 01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Python: varint(len(b)) + b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SQL: concat(leb128(length(s)), s)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709160" y="2103120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out for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423160"/>
            <a:ext cx="4215384" cy="164592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64-bit argument types only.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DataSketches widens to 64 bits before hashing; a UInt32 column hashes differently and silently double-counts.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 is fixed at 4096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ClickHouse: size 16384 columns keep precision at rest but downsample on merge.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Doing it in pure SQL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CAST(String AS AggregateFunction(...)) turns raw bytes into state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8705088" cy="26517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024128"/>
            <a:ext cx="8705088" cy="2651760"/>
          </a:xfrm>
          <a:prstGeom prst="rect">
            <a:avLst/>
          </a:prstGeom>
          <a:noFill/>
          <a:ln/>
        </p:spPr>
        <p:txBody>
          <a:bodyPr wrap="square" lIns="127000" tIns="152400" rIns="152400" bIns="1270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rollup_theta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(L -&gt; multiIf(L &lt; 128,   char(L),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L &lt; 16384, char(bitOr(bitAnd(L,127),128), bitShiftRight(L,7)),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char(bitOr(bitAnd(L,127),128),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bitOr(bitAnd(bitShiftRight(L,7),127),128),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bitShiftRight(L,14))))           AS leb128,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(b -&gt; base64Decode(trim(BOTH '"' FROM b)))                     AS unwrap,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AFF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 -&gt; CAST(concat(leb128(length(s)), s)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AFF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AS AggregateFunction(uniqTheta, String)))              AS to_state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parseDateTimeBestEffort(__time), channel, countryName, isRobot,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`count`, sum_added, to_state(unwrap(users_theta_16384))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executable('druid_query.py', 'JSONEachRow', '&lt;schema&gt;',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(SELECT $$SELECT * FROM wikipedia_rollup_sketches$$));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19456" y="3730752"/>
            <a:ext cx="8705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druid_query.py POSTs the query to Druid (url() can only GET). Alternative: a GET→POST nginx shim, or file() over an exported JSONL. Result is byte-identical to the Python path.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5200" dirty="0"/>
          </a:p>
        </p:txBody>
      </p:sp>
      <p:sp>
        <p:nvSpPr>
          <p:cNvPr id="9" name="Text 5"/>
          <p:cNvSpPr txBox="1"/>
          <p:nvPr/>
        </p:nvSpPr>
        <p:spPr>
          <a:xfrm>
            <a:off x="1627632" y="1325880"/>
            <a:ext cx="72969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an HLL sketch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19456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idea in both engines, very different bytes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HLL: one preamble, three modes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DataSketches HLL changes representation as it fills; all three appear in one column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" y="1024128"/>
          <a:ext cx="4215384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48386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byte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meaning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preInts: preamble size in 4-byte words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/ 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 = 1 / familyId = 7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lgK: log2 of bucket count (4–21)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/ 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lgArr / flags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listCount (LIST) or curMin (HLL_4)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bits 0–1 mode, bits 2–3 target type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709160" y="1024128"/>
            <a:ext cx="914400" cy="65836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09160" y="1024128"/>
            <a:ext cx="9144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760720" y="106070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preInts 2 · 8 B preamble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760720" y="135331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 array of 4-byte coupons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09160" y="1810512"/>
            <a:ext cx="914400" cy="65836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09160" y="1810512"/>
            <a:ext cx="9144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760720" y="184708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preInts 3 · 12 B preamble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760720" y="2139696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set of coupons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709160" y="2596896"/>
            <a:ext cx="914400" cy="658368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09160" y="2596896"/>
            <a:ext cx="91440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5760720" y="263347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preInts 10 · 40 B preamble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760720" y="292608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dense register array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709160" y="3429000"/>
            <a:ext cx="4215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Stored rollup rows were sparse (248–632 B). Only whole-datasource merges went dense: sparse is the common case.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HLL: three dense register widths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tgtHllType chooses how registers are packed once the sketch goes dense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271881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" y="1133856"/>
            <a:ext cx="2471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HLL_8  ·  4136 B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1682496"/>
            <a:ext cx="2444496" cy="139903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B preamble + 4096 × 1 byte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plain byte per register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form that is a flat array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12592" y="1024128"/>
            <a:ext cx="271881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49752" y="1133856"/>
            <a:ext cx="2471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HLL_6  ·  3113 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49752" y="1682496"/>
            <a:ext cx="2444496" cy="139903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B preamble + 4096 × 6 bits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Bit-packed registers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05728" y="1024128"/>
            <a:ext cx="271881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2888" y="1133856"/>
            <a:ext cx="2471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HLL_4  ·  ~2090 B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2888" y="1682496"/>
            <a:ext cx="2444496" cy="139903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B + 4096 × 4 bits + exceptions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Offset from curMin; overflow spills to an aux table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Druid's default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" y="3291840"/>
            <a:ext cx="8705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Sizes at lgK = 12. Bytes 8–39 of the dense preamble hold estimator bookkeeping (HIP accumulator, KxQ sums). HIP is order-dependent: identical registers can report different estimates. Convert to HLL_8 before reading registers.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ClickHouse uniqHLL12: how it differs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precision, fixed size, undocumented and version-specific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8705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Dense ("large") form: always 2651 bytes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19456" y="1371600"/>
            <a:ext cx="1005840" cy="64008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" y="1371600"/>
            <a:ext cx="10058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is_large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1225296" y="1371600"/>
            <a:ext cx="4389120" cy="64008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25296" y="1371600"/>
            <a:ext cx="43891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4096 registers × 5 bits, LSB-first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2560 B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14416" y="1371600"/>
            <a:ext cx="1920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14416" y="1371600"/>
            <a:ext cx="19202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× UInt32 · 88 B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34656" y="1371600"/>
            <a:ext cx="1389888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34656" y="1371600"/>
            <a:ext cx="1389888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count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UInt16 · 2 B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" y="2121408"/>
            <a:ext cx="8705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 ("small") form, up to 16 values: is_large = 0, count byte, then raw UInt64 ClickHouse hashes. Unwritable from a DataSketches sketch.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9456" y="2651760"/>
          <a:ext cx="870508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46704"/>
                <a:gridCol w="3346704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DataSketches HLL (Druid)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15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ClickHouse uniqHLL12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F6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Precision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lgK 4–21, per column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fixed 12 (4096 buckets)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Register width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/ 6 / 8 bits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bits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Rank ceiling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~63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Format contract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documented, versioned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0606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internal, no guarantee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3500" marR="635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0A0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Buckets and coupons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coupons carry slot and rank; ClickHouse packs 5-bit registers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8705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coupon (UInt32)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19456" y="1344168"/>
            <a:ext cx="5943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" y="1344168"/>
            <a:ext cx="59436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 ·  bits 0–25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63056" y="1344168"/>
            <a:ext cx="2761488" cy="50292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163056" y="1344168"/>
            <a:ext cx="276148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 ·  bits 26–31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" y="1901952"/>
            <a:ext cx="8705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 index = slot &amp; (2^lgK − 1)       rank = coupon &gt;&gt; 26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19456" y="2331720"/>
            <a:ext cx="8705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ClickHouse register array (2560 bytes)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19456" y="2670048"/>
            <a:ext cx="857250" cy="384048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1945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M[0]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76706" y="2670048"/>
            <a:ext cx="85725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7670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M[1]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933956" y="2670048"/>
            <a:ext cx="857250" cy="384048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93395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M[2]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91206" y="2670048"/>
            <a:ext cx="85725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9120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M[3]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48456" y="2670048"/>
            <a:ext cx="857250" cy="384048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4845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M[4]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05706" y="2670048"/>
            <a:ext cx="85725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0570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M[5]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362956" y="2670048"/>
            <a:ext cx="857250" cy="384048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36295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M[6]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220206" y="2670048"/>
            <a:ext cx="85725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20206" y="2670048"/>
            <a:ext cx="85725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M[7]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077456" y="2670048"/>
            <a:ext cx="1847088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77456" y="2670048"/>
            <a:ext cx="184708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 M[4095]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9456" y="3090672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9456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 0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591056" y="3090672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591056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 1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2962656" y="3090672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62656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 2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334256" y="3090672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34256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 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705856" y="3090672"/>
            <a:ext cx="13716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705856" y="3090672"/>
            <a:ext cx="13716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60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 4</a:t>
            </a:r>
            <a:endParaRPr lang="en-US" sz="1000" dirty="0"/>
          </a:p>
        </p:txBody>
      </p:sp>
      <p:sp>
        <p:nvSpPr>
          <p:cNvPr id="43" name="Text 40"/>
          <p:cNvSpPr txBox="1"/>
          <p:nvPr/>
        </p:nvSpPr>
        <p:spPr>
          <a:xfrm>
            <a:off x="219456" y="3474720"/>
            <a:ext cx="87050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Registers straddle byte boundaries: one output byte can draw on up to three registers. Ranks above 21 must never be written, or the 22-slot histogram overflows and corrupts the state.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 functions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deepest difference, and the one that cannot be bridged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DataSketches (Druid)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19456" y="1371600"/>
            <a:ext cx="4215384" cy="41148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" y="1371600"/>
            <a:ext cx="421538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MurmurHash3-128, seed 9001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19456" y="1874520"/>
            <a:ext cx="20619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9456" y="1874520"/>
            <a:ext cx="20619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1 (64 bit)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slot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372868" y="1874520"/>
            <a:ext cx="2061972" cy="54864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372868" y="1874520"/>
            <a:ext cx="20619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lane 2 (64 bit)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rank = lz + 1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" y="2560320"/>
            <a:ext cx="4215384" cy="14630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Slot and rank are independent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Ranks up to ~63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Folding lgK 14 → 12 is a max over shared low bits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709160" y="1024128"/>
            <a:ext cx="4215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ClickHouse uniqHLL12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709160" y="1371600"/>
            <a:ext cx="4215384" cy="41148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371600"/>
            <a:ext cx="421538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ClickHouse's own 32-bit hash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09160" y="1874520"/>
            <a:ext cx="14630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09160" y="1874520"/>
            <a:ext cx="146304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bits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bucket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63640" y="1874520"/>
            <a:ext cx="2660904" cy="54864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63640" y="1874520"/>
            <a:ext cx="2660904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20-bit tail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rank = lz + 1 ≤ 21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709160" y="2560320"/>
            <a:ext cx="4215384" cy="14630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 and rank from one word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 capped at 21 (inferred from format)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seed hash in either HLL format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5200" dirty="0"/>
          </a:p>
        </p:txBody>
      </p:sp>
      <p:sp>
        <p:nvSpPr>
          <p:cNvPr id="9" name="Text 5"/>
          <p:cNvSpPr txBox="1"/>
          <p:nvPr/>
        </p:nvSpPr>
        <p:spPr>
          <a:xfrm>
            <a:off x="1627632" y="1325880"/>
            <a:ext cx="72969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Migrating HLL sketches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19456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working paths: export the answers, or transplant the registers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obvious way: export finalized aggregates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Pre-merge in Python at every grain you need, then store plain numbers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4937760" cy="3063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Union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sketches with hll_union per grain, write estimate + lower/upper bounds.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what Druid would have reported at that grain.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sum estimates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rows to fake a union.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the raw bytes as String and merge at query time with an executable UDF (hllMergeEstimate).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trap: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APPROX_COUNT_DISTINCT_DS_HLL merges at lgK 12 by default. Pass the real lgK when validating.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40680" y="1024128"/>
            <a:ext cx="3483864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40680" y="1024128"/>
            <a:ext cx="348386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hour_dims   ·   2486 rows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23560" y="1591056"/>
            <a:ext cx="3118104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23560" y="1591056"/>
            <a:ext cx="311810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hour_channel   ·   909 rows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806440" y="2157984"/>
            <a:ext cx="2752344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06440" y="2157984"/>
            <a:ext cx="275234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day_channel   ·   51 rows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89320" y="2724912"/>
            <a:ext cx="2386584" cy="41148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89320" y="2724912"/>
            <a:ext cx="2386584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day_total   ·   1 row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40680" y="3401568"/>
            <a:ext cx="1188720" cy="68580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40680" y="3401568"/>
            <a:ext cx="1188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1.6×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6739128" y="3401568"/>
            <a:ext cx="2185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inflation from summing estimates instead of unioning (17193 vs 10564)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Exporting state: mapping coupons to buckets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native 2651-byte uniqHLL12 state from Druid's registers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163129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9184" y="1133856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29184" y="160020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header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9184" y="1920240"/>
            <a:ext cx="1411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lgK from byte 3, mode and type from byte 7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987906" y="1024128"/>
            <a:ext cx="163129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97634" y="1133856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97634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097634" y="160020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registers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97634" y="1920240"/>
            <a:ext cx="1411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Sparse: coupon list. Dense: convert to HLL_8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756355" y="1024128"/>
            <a:ext cx="163129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66083" y="1133856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66083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66083" y="160020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 to 4096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66083" y="1920240"/>
            <a:ext cx="1411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bucket = slot &amp; 4095, rank = c &gt;&gt; 26, max per bucket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24805" y="1024128"/>
            <a:ext cx="163129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4533" y="1133856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34533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634533" y="160020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Clamp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634533" y="1920240"/>
            <a:ext cx="1411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 = min(rank, 21)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293254" y="1024128"/>
            <a:ext cx="163129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02982" y="1133856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02982" y="1133856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7402982" y="160020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402982" y="1920240"/>
            <a:ext cx="1411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5-bit registers + histogram + zero count, then CAST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19456" y="3017520"/>
            <a:ext cx="2718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3.49% / 0.61%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219456" y="3429000"/>
            <a:ext cx="2718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 vs Druid across all rows (users / pages)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3212592" y="3017520"/>
            <a:ext cx="2718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lgK 14 → 12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3212592" y="3429000"/>
            <a:ext cx="2718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folding halves precision: ~0.81% → ~1.63% RSE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205728" y="3017520"/>
            <a:ext cx="2718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re-validate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6205728" y="3429000"/>
            <a:ext cx="2718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format is reverse-engineered; re-run the spike after every upgrade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coupon mapping in SQL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heart of the SQL-only transplant: coupons to a max rank per bucket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8705088" cy="269748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024128"/>
            <a:ext cx="8705088" cy="2697480"/>
          </a:xfrm>
          <a:prstGeom prst="rect">
            <a:avLst/>
          </a:prstGeom>
          <a:noFill/>
          <a:ln/>
        </p:spPr>
        <p:txBody>
          <a:bodyPr wrap="square" lIns="127000" tIns="152400" rIns="152400" bIns="12700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preamble length = preInts *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*, bitAnd(reinterpretAsUInt8(substring(sk, 1, 1)), 63) * 4 AS pre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coupons: UInt32 each, after the preamble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arrayMap(i -&gt; reinterpretAsUInt32(substring(sk, pre + 1 + i*4, 4)),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range(intDiv(length(sk) - pre, 4)))                      AS cps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max rank per bucket; masking with 4095 also folds lgK 14 -&gt; 12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AFF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arrayReduce('maxMap',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AFF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[arrayMap(c -&gt; toUInt16(bitAnd(c, 4095)), cps)],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AFF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[arrayMap(c -&gt; toUInt8(least(bitShiftRight(c, 26), 21)), cps)]) AS mm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then: pack 4096 x 5 bits, append histogram + zero count,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0A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unhex(...) and CAST AS AggregateFunction(uniqHLL12, String)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19456" y="3767328"/>
            <a:ext cx="8705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Sparse input only: run the guard query first. Chunk the INSERT (~96 rows per run), or the register broadcast tries to allocate 24 GiB.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Caveat: never merge with ClickHouse native data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states have the same type, so ClickHouse merges them silently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19456" y="1024128"/>
            <a:ext cx="19705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1000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219456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9456" y="2103120"/>
            <a:ext cx="19705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Truth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219456" y="2414016"/>
            <a:ext cx="19705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1000 values, loaded both ways.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2464308" y="1024128"/>
            <a:ext cx="19705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989</a:t>
            </a:r>
            <a:endParaRPr lang="en-US" sz="5400" dirty="0"/>
          </a:p>
        </p:txBody>
      </p:sp>
      <p:sp>
        <p:nvSpPr>
          <p:cNvPr id="13" name="Shape 10"/>
          <p:cNvSpPr/>
          <p:nvPr/>
        </p:nvSpPr>
        <p:spPr>
          <a:xfrm>
            <a:off x="2464308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64308" y="2103120"/>
            <a:ext cx="19705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Transplanted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464308" y="2414016"/>
            <a:ext cx="19705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Druid sketch, registers copied into uniqHLL12.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709160" y="1024128"/>
            <a:ext cx="19705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1001</a:t>
            </a:r>
            <a:endParaRPr lang="en-US" sz="5400" dirty="0"/>
          </a:p>
        </p:txBody>
      </p:sp>
      <p:sp>
        <p:nvSpPr>
          <p:cNvPr id="17" name="Shape 14"/>
          <p:cNvSpPr/>
          <p:nvPr/>
        </p:nvSpPr>
        <p:spPr>
          <a:xfrm>
            <a:off x="4709160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2103120"/>
            <a:ext cx="19705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414016"/>
            <a:ext cx="19705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uniqHLL12State() over the raw values.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954012" y="1024128"/>
            <a:ext cx="19705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2022</a:t>
            </a:r>
            <a:endParaRPr lang="en-US" sz="5400" dirty="0"/>
          </a:p>
        </p:txBody>
      </p:sp>
      <p:sp>
        <p:nvSpPr>
          <p:cNvPr id="21" name="Shape 18"/>
          <p:cNvSpPr/>
          <p:nvPr/>
        </p:nvSpPr>
        <p:spPr>
          <a:xfrm>
            <a:off x="6954012" y="1938528"/>
            <a:ext cx="548640" cy="73152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54012" y="2103120"/>
            <a:ext cx="19705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Merged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54012" y="2414016"/>
            <a:ext cx="19705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Overlap was total. None of it was detected.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19456" y="3429000"/>
            <a:ext cx="8705088" cy="566928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19456" y="3429000"/>
            <a:ext cx="8705088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uniqHLL12State() insert into a transplanted column corrupts every historical number in it, silently.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merge double-counts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Union is a bucket-wise max: it needs one shared key → bucket map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600200"/>
            <a:ext cx="1371600" cy="50292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9456" y="1600200"/>
            <a:ext cx="13716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"alice"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103120" y="1051560"/>
            <a:ext cx="2194560" cy="54864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03120" y="1051560"/>
            <a:ext cx="21945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MurmurHash3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 1873, rank 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103120" y="210312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03120" y="2103120"/>
            <a:ext cx="219456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ClickHouse hash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515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bucket 402, rank 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 flipV="1">
            <a:off x="1591056" y="1325880"/>
            <a:ext cx="512064" cy="411480"/>
          </a:xfrm>
          <a:prstGeom prst="line">
            <a:avLst/>
          </a:prstGeom>
          <a:noFill/>
          <a:ln w="19050">
            <a:solidFill>
              <a:srgbClr val="15151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1591056" y="1965960"/>
            <a:ext cx="512064" cy="411480"/>
          </a:xfrm>
          <a:prstGeom prst="line">
            <a:avLst/>
          </a:prstGeom>
          <a:noFill/>
          <a:ln w="19050">
            <a:solidFill>
              <a:srgbClr val="151515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219456" y="2743200"/>
            <a:ext cx="4078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bucket numbers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" y="3017520"/>
            <a:ext cx="4078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key, two unrelated slots. Max over buckets now behaves like a union of two disjoint sets.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1024128"/>
            <a:ext cx="4352544" cy="306324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survives transplant: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depends only on the multiset of register values, so a permuted array still estimates the same set.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Transplanted ∪ transplanted works: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share DataSketches hashing. A ∪ B = 1509 vs truth 1500.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Transplanted ∪ native breaks: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hash, different map.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 escapes this: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stores the hashes, and both sides use the same hash. HLL threw them away.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19456" y="173736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5200" dirty="0"/>
          </a:p>
        </p:txBody>
      </p:sp>
      <p:sp>
        <p:nvSpPr>
          <p:cNvPr id="9" name="Text 5"/>
          <p:cNvSpPr txBox="1"/>
          <p:nvPr/>
        </p:nvSpPr>
        <p:spPr>
          <a:xfrm>
            <a:off x="1627632" y="1325880"/>
            <a:ext cx="72969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219456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path by what the column has to do after migration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219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6126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 migrates cleanly; HLL means choosing exact answers or native merges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4206240"/>
            <a:ext cx="9144000" cy="937260"/>
          </a:xfrm>
          <a:custGeom>
            <a:avLst/>
            <a:gdLst/>
            <a:ahLst/>
            <a:cxnLst/>
            <a:rect l="l" t="t" r="r" b="b"/>
            <a:pathLst>
              <a:path w="9144000" h="937260">
                <a:moveTo>
                  <a:pt x="0" y="310896"/>
                </a:moveTo>
                <a:lnTo>
                  <a:pt x="9144000" y="0"/>
                </a:lnTo>
                <a:lnTo>
                  <a:pt x="9144000" y="937260"/>
                </a:lnTo>
                <a:lnTo>
                  <a:pt x="0" y="93726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7" name="Image 0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9456" y="1024128"/>
            <a:ext cx="2718816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6616" y="1161288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" y="1161288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1133856"/>
            <a:ext cx="1969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Theta → uniqTheta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6616" y="1682496"/>
            <a:ext cx="2444496" cy="17647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Lossless: add a LEB128 header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Merges with native ClickHouse data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64-bit or String argument types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Prefer theta wherever you can rebuild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12592" y="1024128"/>
            <a:ext cx="2718816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49752" y="1161288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349752" y="1161288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52672" y="1133856"/>
            <a:ext cx="1969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 → finalized values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349752" y="1682496"/>
            <a:ext cx="2444496" cy="17647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Druid numbers per grain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Pre-merge every grain you need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carry bytes + UDF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Mergeable with anything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05728" y="1024128"/>
            <a:ext cx="2718816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42888" y="1161288"/>
            <a:ext cx="384048" cy="384048"/>
          </a:xfrm>
          <a:prstGeom prst="rect">
            <a:avLst/>
          </a:pr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42888" y="1161288"/>
            <a:ext cx="38404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845808" y="1133856"/>
            <a:ext cx="1969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HLL → transplant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342888" y="1682496"/>
            <a:ext cx="2444496" cy="17647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uniqHLL12Merge in SQL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~1–3% drift, lgK folded to 12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mix with native states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Re-validate after upgrades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" y="3657600"/>
            <a:ext cx="8705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515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Code, tests and format notes: github.com/hellmarbecker/druid-sketches-migration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admiring-amazing-mayer/mnt/outputs/deck/assets/full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" y="420624"/>
            <a:ext cx="1377544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794760"/>
            <a:ext cx="9144000" cy="1348740"/>
          </a:xfrm>
          <a:custGeom>
            <a:avLst/>
            <a:gdLst/>
            <a:ahLst/>
            <a:cxnLst/>
            <a:rect l="l" t="t" r="r" b="b"/>
            <a:pathLst>
              <a:path w="9144000" h="1348740">
                <a:moveTo>
                  <a:pt x="0" y="365760"/>
                </a:moveTo>
                <a:lnTo>
                  <a:pt x="9144000" y="0"/>
                </a:lnTo>
                <a:lnTo>
                  <a:pt x="9144000" y="1348740"/>
                </a:lnTo>
                <a:lnTo>
                  <a:pt x="0" y="1348740"/>
                </a:lnTo>
                <a:close/>
              </a:path>
            </a:pathLst>
          </a:custGeom>
          <a:solidFill>
            <a:srgbClr val="FAFF69"/>
          </a:solidFill>
          <a:ln w="12700">
            <a:solidFill>
              <a:srgbClr val="FAFF6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82880" y="4892040"/>
            <a:ext cx="384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7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48920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0606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©2026 CLICKHOUSE INC., CONFIDENTIAL &amp; PROPRIETARY</a:t>
            </a:r>
            <a:endParaRPr lang="en-US" sz="700" dirty="0"/>
          </a:p>
        </p:txBody>
      </p:sp>
      <p:pic>
        <p:nvPicPr>
          <p:cNvPr id="6" name="Image 1" descr="/sessions/admiring-amazing-mayer/mnt/outputs/deck/assets/full-logo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468" y="4892040"/>
            <a:ext cx="598932" cy="182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43484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8" name="Text 4"/>
          <p:cNvSpPr txBox="1"/>
          <p:nvPr/>
        </p:nvSpPr>
        <p:spPr>
          <a:xfrm>
            <a:off x="443484" y="22860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github.com/hellmarbecker/druid-sketches-migration</a:t>
            </a:r>
            <a:endParaRPr lang="en-US" sz="1600" dirty="0"/>
          </a:p>
        </p:txBody>
      </p:sp>
      <p:pic>
        <p:nvPicPr>
          <p:cNvPr id="9" name="Image 2" descr="QR code: https://github.com/hellmarbecker/druid-sketches-mig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097280"/>
            <a:ext cx="1737360" cy="1737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903720" y="29077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for the repo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4169664"/>
            <a:ext cx="2743200" cy="402336"/>
          </a:xfrm>
          <a:prstGeom prst="rect">
            <a:avLst/>
          </a:prstGeom>
          <a:solidFill>
            <a:srgbClr val="151515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clickhouse.com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Migrating Druid sketches to ClickHouse</dc:title>
  <dc:subject>PptxGenJS Presentation</dc:subject>
  <dc:creator>Hellmar Becker</dc:creator>
  <cp:lastModifiedBy>Hellmar Becker</cp:lastModifiedBy>
  <cp:revision>1</cp:revision>
  <dcterms:created xsi:type="dcterms:W3CDTF">2026-10-10T09:25:49Z</dcterms:created>
  <dcterms:modified xsi:type="dcterms:W3CDTF">2026-10-10T09:25:49Z</dcterms:modified>
</cp:coreProperties>
</file>