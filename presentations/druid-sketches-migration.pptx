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5143500" cy="9144000"/>
  <p:embeddedFontLst>
    <p:embeddedFont>
      <p:font typeface="Inter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2FDE4A-4D6E-4CA3-AA40-ED7AF3605F34}">
  <a:tblStyle styleId="{0B2FDE4A-4D6E-4CA3-AA40-ED7AF3605F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.fntdata"/><Relationship Id="rId20" Type="http://schemas.openxmlformats.org/officeDocument/2006/relationships/slide" Target="slides/slide15.xml"/><Relationship Id="rId42" Type="http://schemas.openxmlformats.org/officeDocument/2006/relationships/font" Target="fonts/Inter-boldItalic.fntdata"/><Relationship Id="rId41" Type="http://schemas.openxmlformats.org/officeDocument/2006/relationships/font" Target="fonts/Inter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Inter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545b5c34c5654510_2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h545b5c34c5654510_20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h545b5c34c5654510_20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545b5c34c5654510_2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h545b5c34c5654510_20_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h545b5c34c5654510_20_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545b5c34c5654510_2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h545b5c34c5654510_20_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h545b5c34c5654510_20_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45b5c34c5654510_2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h545b5c34c5654510_20_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h545b5c34c5654510_20_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545b5c34c5654510_2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h545b5c34c5654510_20_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h545b5c34c5654510_20_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545b5c34c5654510_2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h545b5c34c5654510_20_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545b5c34c5654510_20_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545b5c34c5654510_2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h545b5c34c5654510_20_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h545b5c34c5654510_20_1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545b5c34c5654510_2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h545b5c34c5654510_20_1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h545b5c34c5654510_20_1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545b5c34c5654510_2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h545b5c34c5654510_20_2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545b5c34c5654510_20_2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545b5c34c5654510_20_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h545b5c34c5654510_20_3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h545b5c34c5654510_20_3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h545b5c34c5654510_20_4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h545b5c34c5654510_20_4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h545b5c34c5654510_20_4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545b5c34c5654510_20_4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h545b5c34c5654510_20_4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h545b5c34c5654510_20_4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h545b5c34c5654510_20_4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h545b5c34c5654510_20_4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h545b5c34c5654510_20_4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545b5c34c5654510_20_4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h545b5c34c5654510_20_4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h545b5c34c5654510_20_4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h545b5c34c5654510_20_5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h545b5c34c5654510_20_5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h545b5c34c5654510_20_5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h545b5c34c5654510_20_5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h545b5c34c5654510_20_5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h545b5c34c5654510_20_5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h545b5c34c5654510_20_5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h545b5c34c5654510_20_5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h545b5c34c5654510_20_5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h545b5c34c5654510_20_5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h545b5c34c5654510_20_5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h545b5c34c5654510_20_5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h545b5c34c5654510_20_5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h545b5c34c5654510_20_5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h545b5c34c5654510_20_5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h545b5c34c5654510_20_5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h545b5c34c5654510_20_5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h545b5c34c5654510_20_5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h545b5c34c5654510_20_6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h545b5c34c5654510_20_6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h545b5c34c5654510_20_6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h545b5c34c5654510_20_6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h545b5c34c5654510_20_6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h545b5c34c5654510_20_6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h545b5c34c5654510_20_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h545b5c34c5654510_20_6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h545b5c34c5654510_20_6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h545b5c34c5654510_20_6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h545b5c34c5654510_20_6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h545b5c34c5654510_20_6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h545b5c34c5654510_20_7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h545b5c34c5654510_20_7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h545b5c34c5654510_20_7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h545b5c34c5654510_20_7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h545b5c34c5654510_20_7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h545b5c34c5654510_20_7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h545b5c34c5654510_20_7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h545b5c34c5654510_20_7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h545b5c34c5654510_20_7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h545b5c34c5654510_20_8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h545b5c34c5654510_20_8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h545b5c34c5654510_20_8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h545b5c34c5654510_20_8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h545b5c34c5654510_20_8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h545b5c34c5654510_20_8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h545b5c34c5654510_20_8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h545b5c34c5654510_20_8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h545b5c34c5654510_20_8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h545b5c34c5654510_20_8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5" name="Google Shape;905;h545b5c34c5654510_20_8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h545b5c34c5654510_20_8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h545b5c34c5654510_20_8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h545b5c34c5654510_20_8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h545b5c34c5654510_20_8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h6b2533a4b27a2156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h6b2533a4b27a2156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h6b2533a4b27a2156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admiring-amazing-mayer/mnt/outputs/deck/assets/full-logo-white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" y="420624"/>
            <a:ext cx="137754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3794760"/>
            <a:ext cx="9144000" cy="1348740"/>
          </a:xfrm>
          <a:custGeom>
            <a:rect b="b" l="l" r="r" t="t"/>
            <a:pathLst>
              <a:path extrusionOk="0" h="1348740" w="9144000">
                <a:moveTo>
                  <a:pt x="0" y="365760"/>
                </a:moveTo>
                <a:lnTo>
                  <a:pt x="9144000" y="0"/>
                </a:lnTo>
                <a:lnTo>
                  <a:pt x="9144000" y="1348740"/>
                </a:lnTo>
                <a:lnTo>
                  <a:pt x="0" y="134874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>
            <a:off x="443484" y="12344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nter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Migrating Druid sketches to ClickHouse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443484" y="26060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Theta and HLL sketches: how they work, how each engine stores aggregation state, and how to move them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57200" y="4169664"/>
            <a:ext cx="2468880" cy="402336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October 2026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Six steps from sketch theory to a working migration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4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19456" y="1024128"/>
            <a:ext cx="685800" cy="68580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219456" y="102412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042416" y="1042416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What are datasketches?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1042416" y="1389888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Theta and HLL, and when to use which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19456" y="2048256"/>
            <a:ext cx="685800" cy="68580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219456" y="2048256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1042416" y="2066544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Aggregation in Druid and ClickHouse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042416" y="2414016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Rollup vs AggregatingMergeTree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19456" y="3072384"/>
            <a:ext cx="685800" cy="68580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219456" y="3072384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042416" y="3090672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Migrating theta sketches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1042416" y="3438144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Same bytes, one extra header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709160" y="1024128"/>
            <a:ext cx="685800" cy="68580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4709160" y="102412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5532120" y="1042416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Anatomy of an HLL sketch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5532120" y="1389888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Druid formats vs ClickHouse HLL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709160" y="2048256"/>
            <a:ext cx="685800" cy="68580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4709160" y="2048256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5532120" y="2066544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Migrating HLL sketches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5532120" y="2414016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Finalized values or transplanted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709160" y="3072384"/>
            <a:ext cx="685800" cy="68580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4709160" y="3072384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5532120" y="3090672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5532120" y="3438144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What to pick, and what to avoid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Glossary: HLL terms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The five words that every HLL format discussion depends 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5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69" name="Google Shape;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219456" y="1024128"/>
            <a:ext cx="1280160" cy="57607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219456" y="1024128"/>
            <a:ext cx="1280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lgK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1645920" y="1024128"/>
            <a:ext cx="7278624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log2 of the number of buckets K. lgK = 12 means 4096 registers. Higher lgK: more accuracy (error ≈ 1.04/√K), more memory. Druid: 4–21 per column; </a:t>
            </a:r>
            <a:r>
              <a:rPr lang="en-US" sz="120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ClickHouse: 12 (uniqHLL12) or 12–20 (uniqCombined64).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19456" y="1645920"/>
            <a:ext cx="1280160" cy="576072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219456" y="1645920"/>
            <a:ext cx="1280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Register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1645920" y="1645920"/>
            <a:ext cx="7278624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One small counter per bucket, holding the highest rank seen for any value that hashed there. The full array of registers is the dense sketch. Druid: 4, 6 or 8 bits wide. </a:t>
            </a:r>
            <a:r>
              <a:rPr lang="en-US" sz="120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ClickHouse: 5 bits (uniqHLL12) or 6 (uniqCombined64).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19456" y="2267712"/>
            <a:ext cx="1280160" cy="57607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219456" y="2267712"/>
            <a:ext cx="1280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Rank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645920" y="2267712"/>
            <a:ext cx="7278624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Leading zeros (ClickHouse: trailing) in a value's hash bits, plus one.</a:t>
            </a: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A rank of r turns up with probability 2^−r, so high ranks signal many distinct values. Druid allows up to ~63; </a:t>
            </a:r>
            <a:r>
              <a:rPr lang="en-US" sz="120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ClickHouse caps it at 21 (uniqHLL12) or 65 − lgK.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19456" y="2889504"/>
            <a:ext cx="1280160" cy="576072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 txBox="1"/>
          <p:nvPr/>
        </p:nvSpPr>
        <p:spPr>
          <a:xfrm>
            <a:off x="219456" y="2889504"/>
            <a:ext cx="1280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Slot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1645920" y="2889504"/>
            <a:ext cx="7278624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The hash bits that pick a value's bucket. In a Druid coupon it is a 26-bit field; the register index is its low lgK bits (slot &amp; (2^lgK − 1)), which is why lgK 14 can fold to 12.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19456" y="3511296"/>
            <a:ext cx="1280160" cy="57607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219456" y="3511296"/>
            <a:ext cx="128016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Coupon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1645920" y="3511296"/>
            <a:ext cx="7278624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Druid's sparse-mode entry: one UInt32 packing slot (bits 0–25) and rank (bits 26–31). Small sketches store coupons instead of a full register array. Not a raw hash: keys can't be recovered.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Glossary: theta and ClickHouse terms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Other terms used in this deck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219456" y="1024128"/>
            <a:ext cx="4215384" cy="9418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356616" y="1115568"/>
            <a:ext cx="3941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θ (theta)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356616" y="1408176"/>
            <a:ext cx="394106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The sampling threshold of a theta sketch. Only hashes below θ are kept; estimate = retained / θ.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709160" y="1024128"/>
            <a:ext cx="4215384" cy="9418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4846320" y="1115568"/>
            <a:ext cx="3941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k (nominal entries)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4846320" y="1408176"/>
            <a:ext cx="394106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How many hashes a theta sketch aims to keep. Druid: size. ClickHouse: fixed at 4096.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19456" y="2084832"/>
            <a:ext cx="4215384" cy="9418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356616" y="2176272"/>
            <a:ext cx="3941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Seed hash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356616" y="2468880"/>
            <a:ext cx="394106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16-bit fingerprint of the hash seed in the theta preamble. 37836 = default seed 9001.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709160" y="2084832"/>
            <a:ext cx="4215384" cy="9418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4846320" y="2176272"/>
            <a:ext cx="3941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Sparse vs dense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4846320" y="2468880"/>
            <a:ext cx="394106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Sparse: coupon list (LIST/SET), while few values are seen. Dense: full register array (HLL).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19456" y="3145536"/>
            <a:ext cx="4215384" cy="9418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356616" y="3236976"/>
            <a:ext cx="3941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Aggregate 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356616" y="3529584"/>
            <a:ext cx="394106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Partial result in an AggregateFunction column. Built with -State, finalized with -Merge.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709160" y="3145536"/>
            <a:ext cx="4215384" cy="9418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4846320" y="3236976"/>
            <a:ext cx="39410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LEB128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4846320" y="3529584"/>
            <a:ext cx="394106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Variable-length integer, 7 bits per byte. The length prefix of a uniqTheta state.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admiring-amazing-mayer/mnt/outputs/deck/assets/full-logo-white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" y="420624"/>
            <a:ext cx="137754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0" y="3794760"/>
            <a:ext cx="9144000" cy="1348740"/>
          </a:xfrm>
          <a:custGeom>
            <a:rect b="b" l="l" r="r" t="t"/>
            <a:pathLst>
              <a:path extrusionOk="0" h="1348740" w="9144000">
                <a:moveTo>
                  <a:pt x="0" y="365760"/>
                </a:moveTo>
                <a:lnTo>
                  <a:pt x="9144000" y="0"/>
                </a:lnTo>
                <a:lnTo>
                  <a:pt x="9144000" y="1348740"/>
                </a:lnTo>
                <a:lnTo>
                  <a:pt x="0" y="134874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1627632" y="1325880"/>
            <a:ext cx="729691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are datasketches?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219456" y="3017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Small, mergeable summaries that answer "how many distinct?" without keeping the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How sketches are used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Approximate distinct counts that survive pre-aggregation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 txBox="1"/>
          <p:nvPr/>
        </p:nvSpPr>
        <p:spPr>
          <a:xfrm>
            <a:off x="219456" y="1024128"/>
            <a:ext cx="8705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 sketch is a fixed-size probabilistic summary of a set. Apache DataSketches provides a family of them; this deck focuses on the two used for count-distinct.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19456" y="1645920"/>
            <a:ext cx="2718816" cy="2441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56616" y="1783080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356616" y="1783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859536" y="1755648"/>
            <a:ext cx="1969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Count distinct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356616" y="2304288"/>
            <a:ext cx="244449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Users, sessions, pages per time bucket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KB instead of the full set of IDs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Error bounds come with the estimate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212592" y="1645920"/>
            <a:ext cx="2718816" cy="2441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3349752" y="1783080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3349752" y="1783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3852672" y="1755648"/>
            <a:ext cx="1969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Merge across rows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3349752" y="2304288"/>
            <a:ext cx="244449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Union of two sketches = sketch of the union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Hourly rows roll up to daily, per-channel to 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Never double-counts overlap, unlike summing 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205728" y="1645920"/>
            <a:ext cx="2718816" cy="24414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342888" y="1783080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6342888" y="1783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6845808" y="1755648"/>
            <a:ext cx="1969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Set operations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6342888" y="2304288"/>
            <a:ext cx="244449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Theta: union, intersection, A-not-B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HLL: union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Answers like "users seen on both days"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How theta sketches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Hash every value, keep only the smallest k hashes, estimate from the density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165" name="Google Shape;1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219456" y="1024128"/>
            <a:ext cx="393192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Hash </a:t>
            </a:r>
            <a:r>
              <a:rPr b="0" i="0" lang="en-US" sz="14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each value to a point in [0, 1). Duplicates hash to the same point, so they count once.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Keep </a:t>
            </a:r>
            <a:r>
              <a:rPr b="0" i="0" lang="en-US" sz="14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only hashes below a threshold θ, at most k of them (k = nominal entries).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Estimate </a:t>
            </a:r>
            <a:r>
              <a:rPr b="0" i="0" lang="en-US" sz="14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distinct count ≈ retained / θ. Points are uniform, so density below θ extrapolates.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Store </a:t>
            </a:r>
            <a:r>
              <a:rPr b="0" i="0" lang="en-US" sz="14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the retained hashes themselves, plus θ. That is what makes set operations possible.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709160" y="1856232"/>
            <a:ext cx="1275588" cy="585216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9"/>
          <p:cNvCxnSpPr/>
          <p:nvPr/>
        </p:nvCxnSpPr>
        <p:spPr>
          <a:xfrm>
            <a:off x="4709160" y="2148840"/>
            <a:ext cx="4114800" cy="0"/>
          </a:xfrm>
          <a:prstGeom prst="straightConnector1">
            <a:avLst/>
          </a:prstGeom>
          <a:noFill/>
          <a:ln cap="flat" cmpd="sng" w="1905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9"/>
          <p:cNvSpPr/>
          <p:nvPr/>
        </p:nvSpPr>
        <p:spPr>
          <a:xfrm>
            <a:off x="4809744" y="2084832"/>
            <a:ext cx="128016" cy="128016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5097780" y="2084832"/>
            <a:ext cx="128016" cy="128016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426964" y="2084832"/>
            <a:ext cx="128016" cy="128016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715000" y="2084832"/>
            <a:ext cx="128016" cy="128016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167628" y="20848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496812" y="20848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784848" y="20848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7114032" y="20848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7360920" y="20848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7690104" y="20848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7978140" y="20848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8266176" y="20848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8554212" y="20848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9"/>
          <p:cNvCxnSpPr/>
          <p:nvPr/>
        </p:nvCxnSpPr>
        <p:spPr>
          <a:xfrm>
            <a:off x="5984748" y="1691640"/>
            <a:ext cx="0" cy="914400"/>
          </a:xfrm>
          <a:prstGeom prst="straightConnector1">
            <a:avLst/>
          </a:prstGeom>
          <a:noFill/>
          <a:ln cap="flat" cmpd="sng" w="254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9"/>
          <p:cNvSpPr txBox="1"/>
          <p:nvPr/>
        </p:nvSpPr>
        <p:spPr>
          <a:xfrm>
            <a:off x="5527548" y="1371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θ = 0.31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4617720" y="249631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8732520" y="249631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736592" y="2926080"/>
            <a:ext cx="128016" cy="128016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4937760" y="28803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retained hash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565392" y="292608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6766560" y="28803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discarded hash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709160" y="3291840"/>
            <a:ext cx="4114800" cy="45720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4709160" y="32918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 / 0.31 ≈ 13 distinct (truth: 13)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Theta set operations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Because theta keeps real hash values, sketches from different rows combine exactly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202" name="Google Shape;2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 txBox="1"/>
          <p:nvPr/>
        </p:nvSpPr>
        <p:spPr>
          <a:xfrm>
            <a:off x="219456" y="118872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005840" y="1170432"/>
            <a:ext cx="1920240" cy="402336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" name="Google Shape;205;p10"/>
          <p:cNvCxnSpPr/>
          <p:nvPr/>
        </p:nvCxnSpPr>
        <p:spPr>
          <a:xfrm>
            <a:off x="1005840" y="1371600"/>
            <a:ext cx="3840480" cy="0"/>
          </a:xfrm>
          <a:prstGeom prst="straightConnector1">
            <a:avLst/>
          </a:prstGeom>
          <a:noFill/>
          <a:ln cap="flat" cmpd="sng" w="15875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0"/>
          <p:cNvSpPr/>
          <p:nvPr/>
        </p:nvSpPr>
        <p:spPr>
          <a:xfrm>
            <a:off x="3173882" y="1312164"/>
            <a:ext cx="118872" cy="11887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3634740" y="1312164"/>
            <a:ext cx="118872" cy="11887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210812" y="1312164"/>
            <a:ext cx="118872" cy="11887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1176833" y="131216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1637690" y="131216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2098548" y="131216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2559406" y="131216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10"/>
          <p:cNvCxnSpPr/>
          <p:nvPr/>
        </p:nvCxnSpPr>
        <p:spPr>
          <a:xfrm>
            <a:off x="2926080" y="1078992"/>
            <a:ext cx="0" cy="585216"/>
          </a:xfrm>
          <a:prstGeom prst="straightConnector1">
            <a:avLst/>
          </a:prstGeom>
          <a:noFill/>
          <a:ln cap="flat" cmpd="sng" w="254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0"/>
          <p:cNvSpPr txBox="1"/>
          <p:nvPr/>
        </p:nvSpPr>
        <p:spPr>
          <a:xfrm>
            <a:off x="2980944" y="1499616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θ 0.5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219456" y="214884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005840" y="2130552"/>
            <a:ext cx="1536192" cy="402336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10"/>
          <p:cNvCxnSpPr/>
          <p:nvPr/>
        </p:nvCxnSpPr>
        <p:spPr>
          <a:xfrm>
            <a:off x="1005840" y="2331720"/>
            <a:ext cx="3840480" cy="0"/>
          </a:xfrm>
          <a:prstGeom prst="straightConnector1">
            <a:avLst/>
          </a:prstGeom>
          <a:noFill/>
          <a:ln cap="flat" cmpd="sng" w="15875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0"/>
          <p:cNvSpPr/>
          <p:nvPr/>
        </p:nvSpPr>
        <p:spPr>
          <a:xfrm>
            <a:off x="2751430" y="2272284"/>
            <a:ext cx="118872" cy="11887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3404311" y="2272284"/>
            <a:ext cx="118872" cy="11887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402836" y="2272284"/>
            <a:ext cx="118872" cy="11887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1176833" y="227228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1445666" y="227228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2098548" y="227228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2328977" y="227228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5" name="Google Shape;225;p10"/>
          <p:cNvCxnSpPr/>
          <p:nvPr/>
        </p:nvCxnSpPr>
        <p:spPr>
          <a:xfrm>
            <a:off x="2542032" y="2039112"/>
            <a:ext cx="0" cy="585216"/>
          </a:xfrm>
          <a:prstGeom prst="straightConnector1">
            <a:avLst/>
          </a:prstGeom>
          <a:noFill/>
          <a:ln cap="flat" cmpd="sng" w="254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0"/>
          <p:cNvSpPr txBox="1"/>
          <p:nvPr/>
        </p:nvSpPr>
        <p:spPr>
          <a:xfrm>
            <a:off x="2596896" y="2459736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θ 0.4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219456" y="3108960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 ∪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005840" y="3090672"/>
            <a:ext cx="1536192" cy="402336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" name="Google Shape;229;p10"/>
          <p:cNvCxnSpPr/>
          <p:nvPr/>
        </p:nvCxnSpPr>
        <p:spPr>
          <a:xfrm>
            <a:off x="1005840" y="3291840"/>
            <a:ext cx="3840480" cy="0"/>
          </a:xfrm>
          <a:prstGeom prst="straightConnector1">
            <a:avLst/>
          </a:prstGeom>
          <a:noFill/>
          <a:ln cap="flat" cmpd="sng" w="15875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0"/>
          <p:cNvSpPr/>
          <p:nvPr/>
        </p:nvSpPr>
        <p:spPr>
          <a:xfrm>
            <a:off x="2559406" y="3232404"/>
            <a:ext cx="118872" cy="11887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1176833" y="323240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445666" y="323240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1637690" y="323240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2098548" y="323240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2328977" y="3232404"/>
            <a:ext cx="118872" cy="118872"/>
          </a:xfrm>
          <a:prstGeom prst="ellipse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10"/>
          <p:cNvCxnSpPr/>
          <p:nvPr/>
        </p:nvCxnSpPr>
        <p:spPr>
          <a:xfrm>
            <a:off x="2542032" y="2999232"/>
            <a:ext cx="0" cy="585216"/>
          </a:xfrm>
          <a:prstGeom prst="straightConnector1">
            <a:avLst/>
          </a:prstGeom>
          <a:noFill/>
          <a:ln cap="flat" cmpd="sng" w="254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0"/>
          <p:cNvSpPr txBox="1"/>
          <p:nvPr/>
        </p:nvSpPr>
        <p:spPr>
          <a:xfrm>
            <a:off x="2596896" y="3419856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θ 0.4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5166360" y="1024128"/>
            <a:ext cx="375818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Union: </a:t>
            </a:r>
            <a:r>
              <a:rPr b="0" i="0" lang="en-US" sz="14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θ = min(θA, θB); keep every hash below it from both sides. Shared hashes (0.06, 0.30) collapse into 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Intersection: </a:t>
            </a:r>
            <a:r>
              <a:rPr b="0" i="0" lang="en-US" sz="14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same θ, keep hashes present in both.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 not B: </a:t>
            </a:r>
            <a:r>
              <a:rPr b="0" i="0" lang="en-US" sz="14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same θ, keep hashes in A only.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Result: </a:t>
            </a:r>
            <a:r>
              <a:rPr b="0" i="0" lang="en-US" sz="14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 retained / 0.4 ≈ 12.5. Overlap is detected, not double-counted.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How HLL sketches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Keep one small counter per bucket: the longest run of leading zeros seen there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1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/>
        </p:nvSpPr>
        <p:spPr>
          <a:xfrm>
            <a:off x="219456" y="1024128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Hash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each value; the first p bits pick one of m = 2^p buckets.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Rank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= leading zeros of the remaining bits + 1. High ranks are rare.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Register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M[j] = max(M[j], rank). Duplicates change nothing.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Estimate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harmonic mean of the m registers, scaled by the bias-correction factor αₘ.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 = alpha_m m^2 / sum_{j=1}^{m} 2^(-M[j])" id="251" name="Google Shape;25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456" y="3081528"/>
            <a:ext cx="26060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 txBox="1"/>
          <p:nvPr/>
        </p:nvSpPr>
        <p:spPr>
          <a:xfrm>
            <a:off x="2962656" y="3081528"/>
            <a:ext cx="140817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Inter"/>
              <a:buNone/>
            </a:pPr>
            <a:r>
              <a:rPr b="1" i="1" lang="en-US" sz="11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α</a:t>
            </a:r>
            <a:r>
              <a:rPr b="1" baseline="-25000" i="1" lang="en-US" sz="11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b="0" i="0" lang="en-US" sz="11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: bias-correction factor, ≈ 0.721 for m = 4096. It corrects the raw harmonic mean.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4709160" y="10241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hash("alice")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709160" y="1280160"/>
            <a:ext cx="246888" cy="329184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4709160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956048" y="1280160"/>
            <a:ext cx="246888" cy="329184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4956048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202936" y="1280160"/>
            <a:ext cx="246888" cy="329184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5202936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449824" y="1280160"/>
            <a:ext cx="246888" cy="329184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5449824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696712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5696712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943600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5943600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190488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6190488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6437376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6437376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684264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6684264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931152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6931152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178040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7178040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7424928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7424928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671816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7671816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7918704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7918704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8165592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 txBox="1"/>
          <p:nvPr/>
        </p:nvSpPr>
        <p:spPr>
          <a:xfrm>
            <a:off x="8165592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8412480" y="1280160"/>
            <a:ext cx="246888" cy="3291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 txBox="1"/>
          <p:nvPr/>
        </p:nvSpPr>
        <p:spPr>
          <a:xfrm>
            <a:off x="8412480" y="1280160"/>
            <a:ext cx="246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4709160" y="166420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bucket = 0110 =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4709160" y="19202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then 3 zeros and a 1  →  rank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4709160" y="22219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registers M[0..15]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709160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4709160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4709160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956048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4956048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4956048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202936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 txBox="1"/>
          <p:nvPr/>
        </p:nvSpPr>
        <p:spPr>
          <a:xfrm>
            <a:off x="5202936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5202936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449824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 txBox="1"/>
          <p:nvPr/>
        </p:nvSpPr>
        <p:spPr>
          <a:xfrm>
            <a:off x="5449824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5449824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696712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 txBox="1"/>
          <p:nvPr/>
        </p:nvSpPr>
        <p:spPr>
          <a:xfrm>
            <a:off x="5696712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5696712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943600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 txBox="1"/>
          <p:nvPr/>
        </p:nvSpPr>
        <p:spPr>
          <a:xfrm>
            <a:off x="5943600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5943600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6190488" y="2514600"/>
            <a:ext cx="246888" cy="36576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 txBox="1"/>
          <p:nvPr/>
        </p:nvSpPr>
        <p:spPr>
          <a:xfrm>
            <a:off x="6190488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6190488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437376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 txBox="1"/>
          <p:nvPr/>
        </p:nvSpPr>
        <p:spPr>
          <a:xfrm>
            <a:off x="6437376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6437376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684264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 txBox="1"/>
          <p:nvPr/>
        </p:nvSpPr>
        <p:spPr>
          <a:xfrm>
            <a:off x="6684264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6684264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931152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 txBox="1"/>
          <p:nvPr/>
        </p:nvSpPr>
        <p:spPr>
          <a:xfrm>
            <a:off x="6931152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6931152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7178040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 txBox="1"/>
          <p:nvPr/>
        </p:nvSpPr>
        <p:spPr>
          <a:xfrm>
            <a:off x="7178040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 txBox="1"/>
          <p:nvPr/>
        </p:nvSpPr>
        <p:spPr>
          <a:xfrm>
            <a:off x="7178040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7424928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 txBox="1"/>
          <p:nvPr/>
        </p:nvSpPr>
        <p:spPr>
          <a:xfrm>
            <a:off x="7424928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7424928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7671816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 txBox="1"/>
          <p:nvPr/>
        </p:nvSpPr>
        <p:spPr>
          <a:xfrm>
            <a:off x="7671816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7671816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7918704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 txBox="1"/>
          <p:nvPr/>
        </p:nvSpPr>
        <p:spPr>
          <a:xfrm>
            <a:off x="7918704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7918704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8165592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8165592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8165592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8412480" y="251460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 txBox="1"/>
          <p:nvPr/>
        </p:nvSpPr>
        <p:spPr>
          <a:xfrm>
            <a:off x="8412480" y="251460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8412480" y="2907792"/>
            <a:ext cx="246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4709160" y="333756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Only the max rank per bucket survives. The hashes are gone, so no intersection and no way back to the keys.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How HLL sketches are merged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Union is a register-by-register max: cheap, exact, and order-independent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2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348" name="Google Shape;3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2"/>
          <p:cNvSpPr txBox="1"/>
          <p:nvPr/>
        </p:nvSpPr>
        <p:spPr>
          <a:xfrm>
            <a:off x="219456" y="11887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68680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 txBox="1"/>
          <p:nvPr/>
        </p:nvSpPr>
        <p:spPr>
          <a:xfrm>
            <a:off x="868680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1115568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1115568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1362456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 txBox="1"/>
          <p:nvPr/>
        </p:nvSpPr>
        <p:spPr>
          <a:xfrm>
            <a:off x="1362456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609344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1609344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856232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 txBox="1"/>
          <p:nvPr/>
        </p:nvSpPr>
        <p:spPr>
          <a:xfrm>
            <a:off x="1856232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2103120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 txBox="1"/>
          <p:nvPr/>
        </p:nvSpPr>
        <p:spPr>
          <a:xfrm>
            <a:off x="2103120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2350008" y="1188720"/>
            <a:ext cx="246888" cy="36576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 txBox="1"/>
          <p:nvPr/>
        </p:nvSpPr>
        <p:spPr>
          <a:xfrm>
            <a:off x="2350008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2596896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 txBox="1"/>
          <p:nvPr/>
        </p:nvSpPr>
        <p:spPr>
          <a:xfrm>
            <a:off x="2596896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2843784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 txBox="1"/>
          <p:nvPr/>
        </p:nvSpPr>
        <p:spPr>
          <a:xfrm>
            <a:off x="2843784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090672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 txBox="1"/>
          <p:nvPr/>
        </p:nvSpPr>
        <p:spPr>
          <a:xfrm>
            <a:off x="3090672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3337560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 txBox="1"/>
          <p:nvPr/>
        </p:nvSpPr>
        <p:spPr>
          <a:xfrm>
            <a:off x="3337560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3584448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 txBox="1"/>
          <p:nvPr/>
        </p:nvSpPr>
        <p:spPr>
          <a:xfrm>
            <a:off x="3584448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3831336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 txBox="1"/>
          <p:nvPr/>
        </p:nvSpPr>
        <p:spPr>
          <a:xfrm>
            <a:off x="3831336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4078224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 txBox="1"/>
          <p:nvPr/>
        </p:nvSpPr>
        <p:spPr>
          <a:xfrm>
            <a:off x="4078224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4325112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 txBox="1"/>
          <p:nvPr/>
        </p:nvSpPr>
        <p:spPr>
          <a:xfrm>
            <a:off x="4325112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572000" y="1188720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 txBox="1"/>
          <p:nvPr/>
        </p:nvSpPr>
        <p:spPr>
          <a:xfrm>
            <a:off x="4572000" y="1188720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868680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1115568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1362456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1609344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1856232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2103120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2350008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 txBox="1"/>
          <p:nvPr/>
        </p:nvSpPr>
        <p:spPr>
          <a:xfrm>
            <a:off x="2596896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2843784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3090672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 txBox="1"/>
          <p:nvPr/>
        </p:nvSpPr>
        <p:spPr>
          <a:xfrm>
            <a:off x="3337560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 txBox="1"/>
          <p:nvPr/>
        </p:nvSpPr>
        <p:spPr>
          <a:xfrm>
            <a:off x="3584448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 txBox="1"/>
          <p:nvPr/>
        </p:nvSpPr>
        <p:spPr>
          <a:xfrm>
            <a:off x="3831336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 txBox="1"/>
          <p:nvPr/>
        </p:nvSpPr>
        <p:spPr>
          <a:xfrm>
            <a:off x="4078224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 txBox="1"/>
          <p:nvPr/>
        </p:nvSpPr>
        <p:spPr>
          <a:xfrm>
            <a:off x="4325112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 txBox="1"/>
          <p:nvPr/>
        </p:nvSpPr>
        <p:spPr>
          <a:xfrm>
            <a:off x="4572000" y="1005840"/>
            <a:ext cx="246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219456" y="190195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868680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 txBox="1"/>
          <p:nvPr/>
        </p:nvSpPr>
        <p:spPr>
          <a:xfrm>
            <a:off x="868680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1115568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 txBox="1"/>
          <p:nvPr/>
        </p:nvSpPr>
        <p:spPr>
          <a:xfrm>
            <a:off x="1115568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362456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 txBox="1"/>
          <p:nvPr/>
        </p:nvSpPr>
        <p:spPr>
          <a:xfrm>
            <a:off x="1362456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1609344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 txBox="1"/>
          <p:nvPr/>
        </p:nvSpPr>
        <p:spPr>
          <a:xfrm>
            <a:off x="1609344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1856232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 txBox="1"/>
          <p:nvPr/>
        </p:nvSpPr>
        <p:spPr>
          <a:xfrm>
            <a:off x="1856232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2103120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 txBox="1"/>
          <p:nvPr/>
        </p:nvSpPr>
        <p:spPr>
          <a:xfrm>
            <a:off x="2103120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2350008" y="1901952"/>
            <a:ext cx="246888" cy="36576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 txBox="1"/>
          <p:nvPr/>
        </p:nvSpPr>
        <p:spPr>
          <a:xfrm>
            <a:off x="2350008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2596896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 txBox="1"/>
          <p:nvPr/>
        </p:nvSpPr>
        <p:spPr>
          <a:xfrm>
            <a:off x="2596896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2843784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 txBox="1"/>
          <p:nvPr/>
        </p:nvSpPr>
        <p:spPr>
          <a:xfrm>
            <a:off x="2843784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3090672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 txBox="1"/>
          <p:nvPr/>
        </p:nvSpPr>
        <p:spPr>
          <a:xfrm>
            <a:off x="3090672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3337560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 txBox="1"/>
          <p:nvPr/>
        </p:nvSpPr>
        <p:spPr>
          <a:xfrm>
            <a:off x="3337560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3584448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 txBox="1"/>
          <p:nvPr/>
        </p:nvSpPr>
        <p:spPr>
          <a:xfrm>
            <a:off x="3584448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3831336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 txBox="1"/>
          <p:nvPr/>
        </p:nvSpPr>
        <p:spPr>
          <a:xfrm>
            <a:off x="3831336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4078224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 txBox="1"/>
          <p:nvPr/>
        </p:nvSpPr>
        <p:spPr>
          <a:xfrm>
            <a:off x="4078224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4325112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 txBox="1"/>
          <p:nvPr/>
        </p:nvSpPr>
        <p:spPr>
          <a:xfrm>
            <a:off x="4325112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4572000" y="19019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 txBox="1"/>
          <p:nvPr/>
        </p:nvSpPr>
        <p:spPr>
          <a:xfrm>
            <a:off x="4572000" y="19019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219456" y="281635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 ∪ 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868680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 txBox="1"/>
          <p:nvPr/>
        </p:nvSpPr>
        <p:spPr>
          <a:xfrm>
            <a:off x="868680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1115568" y="2816352"/>
            <a:ext cx="246888" cy="3657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 txBox="1"/>
          <p:nvPr/>
        </p:nvSpPr>
        <p:spPr>
          <a:xfrm>
            <a:off x="1115568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1362456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 txBox="1"/>
          <p:nvPr/>
        </p:nvSpPr>
        <p:spPr>
          <a:xfrm>
            <a:off x="1362456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1609344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 txBox="1"/>
          <p:nvPr/>
        </p:nvSpPr>
        <p:spPr>
          <a:xfrm>
            <a:off x="1609344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856232" y="2816352"/>
            <a:ext cx="246888" cy="3657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 txBox="1"/>
          <p:nvPr/>
        </p:nvSpPr>
        <p:spPr>
          <a:xfrm>
            <a:off x="1856232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2103120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 txBox="1"/>
          <p:nvPr/>
        </p:nvSpPr>
        <p:spPr>
          <a:xfrm>
            <a:off x="2103120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2350008" y="2816352"/>
            <a:ext cx="246888" cy="36576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 txBox="1"/>
          <p:nvPr/>
        </p:nvSpPr>
        <p:spPr>
          <a:xfrm>
            <a:off x="2350008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2596896" y="2816352"/>
            <a:ext cx="246888" cy="3657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2596896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2843784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 txBox="1"/>
          <p:nvPr/>
        </p:nvSpPr>
        <p:spPr>
          <a:xfrm>
            <a:off x="2843784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3090672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 txBox="1"/>
          <p:nvPr/>
        </p:nvSpPr>
        <p:spPr>
          <a:xfrm>
            <a:off x="3090672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3337560" y="2816352"/>
            <a:ext cx="246888" cy="3657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 txBox="1"/>
          <p:nvPr/>
        </p:nvSpPr>
        <p:spPr>
          <a:xfrm>
            <a:off x="3337560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3584448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3584448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3831336" y="2816352"/>
            <a:ext cx="246888" cy="3657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 txBox="1"/>
          <p:nvPr/>
        </p:nvSpPr>
        <p:spPr>
          <a:xfrm>
            <a:off x="3831336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4078224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 txBox="1"/>
          <p:nvPr/>
        </p:nvSpPr>
        <p:spPr>
          <a:xfrm>
            <a:off x="4078224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4325112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 txBox="1"/>
          <p:nvPr/>
        </p:nvSpPr>
        <p:spPr>
          <a:xfrm>
            <a:off x="4325112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4572000" y="2816352"/>
            <a:ext cx="24688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 txBox="1"/>
          <p:nvPr/>
        </p:nvSpPr>
        <p:spPr>
          <a:xfrm>
            <a:off x="4572000" y="2816352"/>
            <a:ext cx="246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868680" y="2340864"/>
            <a:ext cx="3950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max( A[j], B[j] )  for every 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219456" y="3648456"/>
            <a:ext cx="182880" cy="18288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 txBox="1"/>
          <p:nvPr/>
        </p:nvSpPr>
        <p:spPr>
          <a:xfrm>
            <a:off x="457200" y="361188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value came from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2011680" y="3648456"/>
            <a:ext cx="182880" cy="18288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 txBox="1"/>
          <p:nvPr/>
        </p:nvSpPr>
        <p:spPr>
          <a:xfrm>
            <a:off x="2249424" y="36118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"alice" in both sketches: stays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5257800" y="1024128"/>
            <a:ext cx="366674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Why it works: </a:t>
            </a: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 key always lands in the same bucket with the same rank, so the max over two sketches is exactly the sketch of the combined input.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Duplicates vanish: </a:t>
            </a: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max is idempotent. Seeing a key twice, in one sketch or across many, changes nothing.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Order-free: </a:t>
            </a: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max is commutative and associative, so rows roll up in any order or grouping.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Preconditions: </a:t>
            </a: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same hash function and seed, and the same lgK. A larger lgK can be folded down first.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In SQL: Druid DS_HLL(col), ClickHouse uniqHLL12Merge(state) or uniqCombined64Merge(lgK)(state).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3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When to use each type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HLL is smaller per unit of accuracy; theta is more flexible and more portable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3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480" name="Google Shape;4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1" name="Google Shape;481;p13"/>
          <p:cNvGraphicFramePr/>
          <p:nvPr/>
        </p:nvGraphicFramePr>
        <p:xfrm>
          <a:off x="219456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{0B2FDE4A-4D6E-4CA3-AA40-ED7AF3605F34}</a:tableStyleId>
              </a:tblPr>
              <a:tblGrid>
                <a:gridCol w="2926075"/>
                <a:gridCol w="2889500"/>
                <a:gridCol w="28895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300"/>
                        <a:buFont typeface="Inter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Theta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300"/>
                        <a:buFont typeface="Inter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HLL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it stores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Retained hash values + θ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Max rank per bucket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Size at ~1.6% error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~32–64 KB (k = 4096)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~2–4 KB (lgK = 12)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Union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Intersection, A-not-B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Convert to the other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Theta → HLL possible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HLL → theta impossible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 ClickHouse merge after migration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300"/>
                        <a:buFont typeface="Inter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Yes, byte-compatible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Only via transplant, with caveats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admiring-amazing-mayer/mnt/outputs/deck/assets/full-logo-white.png" id="487" name="Google Shape;4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" y="420624"/>
            <a:ext cx="137754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4"/>
          <p:cNvSpPr/>
          <p:nvPr/>
        </p:nvSpPr>
        <p:spPr>
          <a:xfrm>
            <a:off x="0" y="3794760"/>
            <a:ext cx="9144000" cy="1348740"/>
          </a:xfrm>
          <a:custGeom>
            <a:rect b="b" l="l" r="r" t="t"/>
            <a:pathLst>
              <a:path extrusionOk="0" h="1348740" w="9144000">
                <a:moveTo>
                  <a:pt x="0" y="365760"/>
                </a:moveTo>
                <a:lnTo>
                  <a:pt x="9144000" y="0"/>
                </a:lnTo>
                <a:lnTo>
                  <a:pt x="9144000" y="1348740"/>
                </a:lnTo>
                <a:lnTo>
                  <a:pt x="0" y="134874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4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491" name="Google Shape;4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4"/>
          <p:cNvSpPr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/>
          <p:cNvSpPr txBox="1"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 txBox="1"/>
          <p:nvPr/>
        </p:nvSpPr>
        <p:spPr>
          <a:xfrm>
            <a:off x="1627632" y="1325880"/>
            <a:ext cx="729691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Aggregating data in Druid and ClickHouse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 txBox="1"/>
          <p:nvPr/>
        </p:nvSpPr>
        <p:spPr>
          <a:xfrm>
            <a:off x="219456" y="3017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Both engines store partial aggregation state rather than final numbers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5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Druid: rollup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Raw events are collapsed at ingestion; sketch columns keep the distinct-count state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5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506" name="Google Shape;5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7" name="Google Shape;507;p15"/>
          <p:cNvGraphicFramePr/>
          <p:nvPr/>
        </p:nvGraphicFramePr>
        <p:xfrm>
          <a:off x="219456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{0B2FDE4A-4D6E-4CA3-AA40-ED7AF3605F34}</a:tableStyleId>
              </a:tblPr>
              <a:tblGrid>
                <a:gridCol w="822950"/>
                <a:gridCol w="822950"/>
                <a:gridCol w="10972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channel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10:02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#en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alice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10:17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#en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bob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10:41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#en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alice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10:55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#en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carol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15"/>
          <p:cNvSpPr txBox="1"/>
          <p:nvPr/>
        </p:nvSpPr>
        <p:spPr>
          <a:xfrm>
            <a:off x="219456" y="2468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raw events (discarded)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9" name="Google Shape;509;p15"/>
          <p:cNvCxnSpPr/>
          <p:nvPr/>
        </p:nvCxnSpPr>
        <p:spPr>
          <a:xfrm>
            <a:off x="3108960" y="169164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15151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0" name="Google Shape;510;p15"/>
          <p:cNvSpPr txBox="1"/>
          <p:nvPr/>
        </p:nvSpPr>
        <p:spPr>
          <a:xfrm>
            <a:off x="3017520" y="137160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1" name="Google Shape;511;p15"/>
          <p:cNvGraphicFramePr/>
          <p:nvPr/>
        </p:nvGraphicFramePr>
        <p:xfrm>
          <a:off x="3794760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{0B2FDE4A-4D6E-4CA3-AA40-ED7AF3605F34}</a:tableStyleId>
              </a:tblPr>
              <a:tblGrid>
                <a:gridCol w="822950"/>
                <a:gridCol w="822950"/>
                <a:gridCol w="731525"/>
                <a:gridCol w="2743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__time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channel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count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users_theta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10:00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#en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COMPLEX&lt;thetaSketch&gt;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</a:tr>
            </a:tbl>
          </a:graphicData>
        </a:graphic>
      </p:graphicFrame>
      <p:sp>
        <p:nvSpPr>
          <p:cNvPr id="512" name="Google Shape;512;p15"/>
          <p:cNvSpPr txBox="1"/>
          <p:nvPr/>
        </p:nvSpPr>
        <p:spPr>
          <a:xfrm>
            <a:off x="3794760" y="1645920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rolled-up row: 3 distinct users live inside the sketch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 txBox="1"/>
          <p:nvPr/>
        </p:nvSpPr>
        <p:spPr>
          <a:xfrm>
            <a:off x="219456" y="2743200"/>
            <a:ext cx="8705088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metricsSpec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defines the aggregators: count, longSum, HLLSketchBuild (lgK, tgtHllType), thetaSketch (size).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Stored state: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sketch columns are COMPLEX&lt;HLLSketch&gt; / COMPLEX&lt;thetaSketch&gt;, serialized DataSketches bytes.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MSQ gotcha: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set finalizeAggregations: false, or sketch columns silently land as plain numbers.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Reading it out: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Druid SQL returns sketches as base64 inside a quoted JSON string.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6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ClickHouse: AggregatingMergeTree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Store intermediate state with -State, combine it at query time with -Merge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6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524" name="Google Shape;5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6"/>
          <p:cNvSpPr/>
          <p:nvPr/>
        </p:nvSpPr>
        <p:spPr>
          <a:xfrm>
            <a:off x="219456" y="1024128"/>
            <a:ext cx="5394960" cy="306324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6"/>
          <p:cNvSpPr txBox="1"/>
          <p:nvPr/>
        </p:nvSpPr>
        <p:spPr>
          <a:xfrm>
            <a:off x="219456" y="1024128"/>
            <a:ext cx="53949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0" lIns="1270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rollup 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ts          DateTime,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channel     String,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cnt         SimpleAggregateFunction(sum, UInt64),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F69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AFF69"/>
                </a:solidFill>
                <a:latin typeface="Courier New"/>
                <a:ea typeface="Courier New"/>
                <a:cs typeface="Courier New"/>
                <a:sym typeface="Courier New"/>
              </a:rPr>
              <a:t>  users_theta AggregateFunction(uniqTheta, String)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ENGINE = AggregatingMergeTree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 BY (channel, ts);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-- write: build partial 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rollup SELECT toStartOfHour(t), channel,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count(), uniqThetaState(user) FROM events GROUP BY 1, 2;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-- read: merge states across rows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channel, uniqThetaMerge(users_theta)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rollup GROUP BY channel;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 txBox="1"/>
          <p:nvPr/>
        </p:nvSpPr>
        <p:spPr>
          <a:xfrm>
            <a:off x="5806440" y="1024128"/>
            <a:ext cx="311810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-State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returns the aggregate's internal state, stored in an AggregateFunction(f, T) column.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-Merge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combines states and finalizes the result.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Background merges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combine rows with equal ORDER BY keys, just like rollup.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Plain measures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must be SimpleAggregateFunction(sum, …): the engine rejects bare columns.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admiring-amazing-mayer/mnt/outputs/deck/assets/full-logo-white.png" id="533" name="Google Shape;5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" y="420624"/>
            <a:ext cx="137754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7"/>
          <p:cNvSpPr/>
          <p:nvPr/>
        </p:nvSpPr>
        <p:spPr>
          <a:xfrm>
            <a:off x="0" y="3794760"/>
            <a:ext cx="9144000" cy="1348740"/>
          </a:xfrm>
          <a:custGeom>
            <a:rect b="b" l="l" r="r" t="t"/>
            <a:pathLst>
              <a:path extrusionOk="0" h="1348740" w="9144000">
                <a:moveTo>
                  <a:pt x="0" y="365760"/>
                </a:moveTo>
                <a:lnTo>
                  <a:pt x="9144000" y="0"/>
                </a:lnTo>
                <a:lnTo>
                  <a:pt x="9144000" y="1348740"/>
                </a:lnTo>
                <a:lnTo>
                  <a:pt x="0" y="134874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17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537" name="Google Shape;5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7"/>
          <p:cNvSpPr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7"/>
          <p:cNvSpPr txBox="1"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7"/>
          <p:cNvSpPr txBox="1"/>
          <p:nvPr/>
        </p:nvSpPr>
        <p:spPr>
          <a:xfrm>
            <a:off x="1627632" y="1325880"/>
            <a:ext cx="729691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Migrating theta sketches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 txBox="1"/>
          <p:nvPr/>
        </p:nvSpPr>
        <p:spPr>
          <a:xfrm>
            <a:off x="219456" y="3017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Druid's bytes are already a valid ClickHouse uniqTheta state, almost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8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Basically the same format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Both sides use Apache DataSketches compact theta sketches with the default seed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8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552" name="Google Shape;5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8"/>
          <p:cNvSpPr txBox="1"/>
          <p:nvPr/>
        </p:nvSpPr>
        <p:spPr>
          <a:xfrm>
            <a:off x="219456" y="1024128"/>
            <a:ext cx="27188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37836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219456" y="1938528"/>
            <a:ext cx="548640" cy="7315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8"/>
          <p:cNvSpPr txBox="1"/>
          <p:nvPr/>
        </p:nvSpPr>
        <p:spPr>
          <a:xfrm>
            <a:off x="219456" y="2103120"/>
            <a:ext cx="2718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Same seed hash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 txBox="1"/>
          <p:nvPr/>
        </p:nvSpPr>
        <p:spPr>
          <a:xfrm>
            <a:off x="219456" y="2414016"/>
            <a:ext cx="27188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Both sides hash with MurmurHash3, seed 9001. Same key, same hash value, in both systems.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 txBox="1"/>
          <p:nvPr/>
        </p:nvSpPr>
        <p:spPr>
          <a:xfrm>
            <a:off x="3212592" y="1024128"/>
            <a:ext cx="27188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1000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3212592" y="1938528"/>
            <a:ext cx="548640" cy="7315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8"/>
          <p:cNvSpPr txBox="1"/>
          <p:nvPr/>
        </p:nvSpPr>
        <p:spPr>
          <a:xfrm>
            <a:off x="3212592" y="2103120"/>
            <a:ext cx="2718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Migrated ∪ native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8"/>
          <p:cNvSpPr txBox="1"/>
          <p:nvPr/>
        </p:nvSpPr>
        <p:spPr>
          <a:xfrm>
            <a:off x="3212592" y="2414016"/>
            <a:ext cx="27188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Same 1000 values: a transcoded Druid sketch unions with a ClickHouse-built one, real dedup.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 txBox="1"/>
          <p:nvPr/>
        </p:nvSpPr>
        <p:spPr>
          <a:xfrm>
            <a:off x="6205728" y="1024128"/>
            <a:ext cx="27188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1500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6205728" y="1938528"/>
            <a:ext cx="548640" cy="7315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8"/>
          <p:cNvSpPr txBox="1"/>
          <p:nvPr/>
        </p:nvSpPr>
        <p:spPr>
          <a:xfrm>
            <a:off x="6205728" y="2103120"/>
            <a:ext cx="2718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With 50% overlap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8"/>
          <p:cNvSpPr txBox="1"/>
          <p:nvPr/>
        </p:nvSpPr>
        <p:spPr>
          <a:xfrm>
            <a:off x="6205728" y="2414016"/>
            <a:ext cx="27188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Two sets of 1000 sharing 500 values: exactly the right answer, in exact mode.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 txBox="1"/>
          <p:nvPr/>
        </p:nvSpPr>
        <p:spPr>
          <a:xfrm>
            <a:off x="219456" y="3657600"/>
            <a:ext cx="87050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Same preamble on both sides: preLongs = 2, serVer = 3, family = 3 (COMPACT), flags = 0x1a. No rebuild, no re-hashing.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9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Adding the header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A uniqTheta state is a LEB128 length prefix plus the sketch bytes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19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9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576" name="Google Shape;5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9"/>
          <p:cNvSpPr/>
          <p:nvPr/>
        </p:nvSpPr>
        <p:spPr>
          <a:xfrm>
            <a:off x="219456" y="1097280"/>
            <a:ext cx="1554480" cy="54864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9"/>
          <p:cNvSpPr txBox="1"/>
          <p:nvPr/>
        </p:nvSpPr>
        <p:spPr>
          <a:xfrm>
            <a:off x="219456" y="109728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LEB128(len)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1773936" y="1097280"/>
            <a:ext cx="3291840" cy="54864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9"/>
          <p:cNvSpPr txBox="1"/>
          <p:nvPr/>
        </p:nvSpPr>
        <p:spPr>
          <a:xfrm>
            <a:off x="1773936" y="109728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preamble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preLongs=2 · serVer=3 · family=3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flags=0x1a · seed hash 37836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5065776" y="1097280"/>
            <a:ext cx="3858768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9"/>
          <p:cNvSpPr txBox="1"/>
          <p:nvPr/>
        </p:nvSpPr>
        <p:spPr>
          <a:xfrm>
            <a:off x="5065776" y="1097280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retained hashes  (UInt64 × N, sorted)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9"/>
          <p:cNvSpPr txBox="1"/>
          <p:nvPr/>
        </p:nvSpPr>
        <p:spPr>
          <a:xfrm>
            <a:off x="219456" y="169164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added for ClickHouse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9"/>
          <p:cNvSpPr txBox="1"/>
          <p:nvPr/>
        </p:nvSpPr>
        <p:spPr>
          <a:xfrm>
            <a:off x="1773936" y="1691640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Druid's compact theta sketch, untouched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9"/>
          <p:cNvSpPr txBox="1"/>
          <p:nvPr/>
        </p:nvSpPr>
        <p:spPr>
          <a:xfrm>
            <a:off x="219456" y="2103120"/>
            <a:ext cx="4215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LEB128 in brief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9"/>
          <p:cNvSpPr txBox="1"/>
          <p:nvPr/>
        </p:nvSpPr>
        <p:spPr>
          <a:xfrm>
            <a:off x="219456" y="2423160"/>
            <a:ext cx="421538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 bits per byte, high bit = "more follows"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8016 → D0 3E,  16384 → 80 80 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Python: varint(len(b)) +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SQL: concat(leb128(length(s)), 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9"/>
          <p:cNvSpPr txBox="1"/>
          <p:nvPr/>
        </p:nvSpPr>
        <p:spPr>
          <a:xfrm>
            <a:off x="4709160" y="2103120"/>
            <a:ext cx="4215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Watch out for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9"/>
          <p:cNvSpPr txBox="1"/>
          <p:nvPr/>
        </p:nvSpPr>
        <p:spPr>
          <a:xfrm>
            <a:off x="4709160" y="2423160"/>
            <a:ext cx="421538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64-bit argument types only.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DataSketches widens to 64 bits before hashing; a UInt32 column hashes differently and silently double-counts.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k is fixed at 4096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 ClickHouse: size 16384 columns keep precision at rest but downsample on merge.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0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Doing it in pure SQL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0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CAST(String AS AggregateFunction(...)) turns raw bytes into state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0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599" name="Google Shape;5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0"/>
          <p:cNvSpPr/>
          <p:nvPr/>
        </p:nvSpPr>
        <p:spPr>
          <a:xfrm>
            <a:off x="219456" y="1024128"/>
            <a:ext cx="8705088" cy="265176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0"/>
          <p:cNvSpPr txBox="1"/>
          <p:nvPr/>
        </p:nvSpPr>
        <p:spPr>
          <a:xfrm>
            <a:off x="219456" y="1024128"/>
            <a:ext cx="87050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0" lIns="1270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rollup_theta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(L -&gt; multiIf(L &lt; 128,   char(L),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L &lt; 16384, char(bitOr(bitAnd(L,127),128), bitShiftRight(L,7)),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char(bitOr(bitAnd(L,127),128),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bitOr(bitAnd(bitShiftRight(L,7),127),128),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bitShiftRight(L,14))))           AS leb128,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(b -&gt; base64Decode(trim(BOTH '"' FROM b)))                     AS unwrap,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F69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AFF69"/>
                </a:solidFill>
                <a:latin typeface="Courier New"/>
                <a:ea typeface="Courier New"/>
                <a:cs typeface="Courier New"/>
                <a:sym typeface="Courier New"/>
              </a:rPr>
              <a:t>  (s -&gt; CAST(concat(leb128(length(s)), 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F69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AFF6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AS AggregateFunction(uniqTheta, String)))              AS to_state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parseDateTimeBestEffort(__time), channel, countryName, isRobot,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`count`, sum_added, to_state(unwrap(users_theta_16384))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executable('druid_query.py', 'JSONEachRow', '&lt;schema&gt;',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(SELECT $$SELECT * FROM wikipedia_rollup_sketches$$));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0"/>
          <p:cNvSpPr txBox="1"/>
          <p:nvPr/>
        </p:nvSpPr>
        <p:spPr>
          <a:xfrm>
            <a:off x="219456" y="3730752"/>
            <a:ext cx="8705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druid_query.py POSTs the query to Druid (url() can only GET). Alternative: a GET→POST nginx shim, or file() over an exported JSONL. Result is byte-identical to the Python path.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admiring-amazing-mayer/mnt/outputs/deck/assets/full-logo-white.png" id="608" name="Google Shape;6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" y="420624"/>
            <a:ext cx="137754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1"/>
          <p:cNvSpPr/>
          <p:nvPr/>
        </p:nvSpPr>
        <p:spPr>
          <a:xfrm>
            <a:off x="0" y="3794760"/>
            <a:ext cx="9144000" cy="1348740"/>
          </a:xfrm>
          <a:custGeom>
            <a:rect b="b" l="l" r="r" t="t"/>
            <a:pathLst>
              <a:path extrusionOk="0" h="1348740" w="9144000">
                <a:moveTo>
                  <a:pt x="0" y="365760"/>
                </a:moveTo>
                <a:lnTo>
                  <a:pt x="9144000" y="0"/>
                </a:lnTo>
                <a:lnTo>
                  <a:pt x="9144000" y="1348740"/>
                </a:lnTo>
                <a:lnTo>
                  <a:pt x="0" y="134874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21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612" name="Google Shape;6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1"/>
          <p:cNvSpPr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1"/>
          <p:cNvSpPr txBox="1"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 txBox="1"/>
          <p:nvPr/>
        </p:nvSpPr>
        <p:spPr>
          <a:xfrm>
            <a:off x="1627632" y="1325880"/>
            <a:ext cx="729691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Anatomy of an HLL sketch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1"/>
          <p:cNvSpPr txBox="1"/>
          <p:nvPr/>
        </p:nvSpPr>
        <p:spPr>
          <a:xfrm>
            <a:off x="219456" y="3017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Same idea in both engines, very different bytes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2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Druid HLL: one preamble, three modes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DataSketches HLL changes representation as it fills; all three appear in one column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22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627" name="Google Shape;6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8" name="Google Shape;628;p22"/>
          <p:cNvGraphicFramePr/>
          <p:nvPr/>
        </p:nvGraphicFramePr>
        <p:xfrm>
          <a:off x="219456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{0B2FDE4A-4D6E-4CA3-AA40-ED7AF3605F34}</a:tableStyleId>
              </a:tblPr>
              <a:tblGrid>
                <a:gridCol w="731525"/>
                <a:gridCol w="34838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byte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meaning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preInts: preamble size in 4-byte words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/ 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serVer = 1 / familyId = 7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lgK: log2 of bucket count (4–21)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/ 5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lgArr / flags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listCount (LIST) or curMin (HLL_4)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bits 0–1 mode, bits 2–3 target type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</a:tr>
            </a:tbl>
          </a:graphicData>
        </a:graphic>
      </p:graphicFrame>
      <p:sp>
        <p:nvSpPr>
          <p:cNvPr id="629" name="Google Shape;629;p22"/>
          <p:cNvSpPr/>
          <p:nvPr/>
        </p:nvSpPr>
        <p:spPr>
          <a:xfrm>
            <a:off x="4709160" y="1024128"/>
            <a:ext cx="914400" cy="65836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2"/>
          <p:cNvSpPr txBox="1"/>
          <p:nvPr/>
        </p:nvSpPr>
        <p:spPr>
          <a:xfrm>
            <a:off x="4709160" y="1024128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 txBox="1"/>
          <p:nvPr/>
        </p:nvSpPr>
        <p:spPr>
          <a:xfrm>
            <a:off x="5760720" y="1060704"/>
            <a:ext cx="3163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preInts 2 · 8 B preamble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5760720" y="1353312"/>
            <a:ext cx="3163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sparse array of 4-byte coupons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4709160" y="1810512"/>
            <a:ext cx="914400" cy="65836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2"/>
          <p:cNvSpPr txBox="1"/>
          <p:nvPr/>
        </p:nvSpPr>
        <p:spPr>
          <a:xfrm>
            <a:off x="4709160" y="1810512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2"/>
          <p:cNvSpPr txBox="1"/>
          <p:nvPr/>
        </p:nvSpPr>
        <p:spPr>
          <a:xfrm>
            <a:off x="5760720" y="1847088"/>
            <a:ext cx="3163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preInts 3 · 12 B preamble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 txBox="1"/>
          <p:nvPr/>
        </p:nvSpPr>
        <p:spPr>
          <a:xfrm>
            <a:off x="5760720" y="2139696"/>
            <a:ext cx="3163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hash set of coupons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4709160" y="2596896"/>
            <a:ext cx="914400" cy="658368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2"/>
          <p:cNvSpPr txBox="1"/>
          <p:nvPr/>
        </p:nvSpPr>
        <p:spPr>
          <a:xfrm>
            <a:off x="4709160" y="2596896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2"/>
          <p:cNvSpPr txBox="1"/>
          <p:nvPr/>
        </p:nvSpPr>
        <p:spPr>
          <a:xfrm>
            <a:off x="5760720" y="2633472"/>
            <a:ext cx="3163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preInts 10 · 40 B preamble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 txBox="1"/>
          <p:nvPr/>
        </p:nvSpPr>
        <p:spPr>
          <a:xfrm>
            <a:off x="5760720" y="2926080"/>
            <a:ext cx="3163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dense register array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 txBox="1"/>
          <p:nvPr/>
        </p:nvSpPr>
        <p:spPr>
          <a:xfrm>
            <a:off x="4709160" y="3429000"/>
            <a:ext cx="4215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Stored rollup rows were sparse (248–632 B). Only whole-datasource merges went dense: sparse is the common case.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3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Druid HLL: three dense register widths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3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tgtHllType chooses how registers are packed once the sketch goes dense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3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3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652" name="Google Shape;6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3"/>
          <p:cNvSpPr/>
          <p:nvPr/>
        </p:nvSpPr>
        <p:spPr>
          <a:xfrm>
            <a:off x="219456" y="1024128"/>
            <a:ext cx="2718816" cy="2148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3"/>
          <p:cNvSpPr txBox="1"/>
          <p:nvPr/>
        </p:nvSpPr>
        <p:spPr>
          <a:xfrm>
            <a:off x="356616" y="1133856"/>
            <a:ext cx="24719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HLL_8  ·  4136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3"/>
          <p:cNvSpPr txBox="1"/>
          <p:nvPr/>
        </p:nvSpPr>
        <p:spPr>
          <a:xfrm>
            <a:off x="356616" y="1682496"/>
            <a:ext cx="2444496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40 B preamble + 4096 × 1 byte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One plain byte per register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Only form that is a flat array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3212592" y="1024128"/>
            <a:ext cx="2718816" cy="2148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3"/>
          <p:cNvSpPr txBox="1"/>
          <p:nvPr/>
        </p:nvSpPr>
        <p:spPr>
          <a:xfrm>
            <a:off x="3349752" y="1133856"/>
            <a:ext cx="24719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HLL_6  ·  3113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3"/>
          <p:cNvSpPr txBox="1"/>
          <p:nvPr/>
        </p:nvSpPr>
        <p:spPr>
          <a:xfrm>
            <a:off x="3349752" y="1682496"/>
            <a:ext cx="2444496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40 B preamble + 4096 × 6 bits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Bit-packed registers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3"/>
          <p:cNvSpPr/>
          <p:nvPr/>
        </p:nvSpPr>
        <p:spPr>
          <a:xfrm>
            <a:off x="6205728" y="1024128"/>
            <a:ext cx="2718816" cy="2148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3"/>
          <p:cNvSpPr txBox="1"/>
          <p:nvPr/>
        </p:nvSpPr>
        <p:spPr>
          <a:xfrm>
            <a:off x="6342888" y="1133856"/>
            <a:ext cx="24719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HLL_4  ·  ~2090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3"/>
          <p:cNvSpPr txBox="1"/>
          <p:nvPr/>
        </p:nvSpPr>
        <p:spPr>
          <a:xfrm>
            <a:off x="6342888" y="1682496"/>
            <a:ext cx="2444496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40 B + 4096 × 4 bits + exceptions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Offset from curMin; overflow spills to an aux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Druid's default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3"/>
          <p:cNvSpPr txBox="1"/>
          <p:nvPr/>
        </p:nvSpPr>
        <p:spPr>
          <a:xfrm>
            <a:off x="219456" y="3291840"/>
            <a:ext cx="87050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Sizes at lgK = 12. Bytes 8–39 of the dense preamble hold estimator bookkeeping (HIP accumulator, KxQ sums). HIP is order-dependent: identical registers can report different estimates. Convert to HLL_8 before reading registers.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4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ClickHouse uniqHLL12: how it differs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4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lang="en-US" sz="16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Fixed at lgK 12, undocumented and version-specific (uniqCombined64: lgK 12–20)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24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4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673" name="Google Shape;6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4"/>
          <p:cNvSpPr txBox="1"/>
          <p:nvPr/>
        </p:nvSpPr>
        <p:spPr>
          <a:xfrm>
            <a:off x="219456" y="1024128"/>
            <a:ext cx="8705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Dense ("large") form: always 2651 bytes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4"/>
          <p:cNvSpPr/>
          <p:nvPr/>
        </p:nvSpPr>
        <p:spPr>
          <a:xfrm>
            <a:off x="219456" y="1371600"/>
            <a:ext cx="1005840" cy="64008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4"/>
          <p:cNvSpPr txBox="1"/>
          <p:nvPr/>
        </p:nvSpPr>
        <p:spPr>
          <a:xfrm>
            <a:off x="219456" y="137160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is_large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1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4"/>
          <p:cNvSpPr/>
          <p:nvPr/>
        </p:nvSpPr>
        <p:spPr>
          <a:xfrm>
            <a:off x="1225296" y="1371600"/>
            <a:ext cx="4389120" cy="64008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4"/>
          <p:cNvSpPr txBox="1"/>
          <p:nvPr/>
        </p:nvSpPr>
        <p:spPr>
          <a:xfrm>
            <a:off x="1225296" y="137160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4096 registers × 5 bits, LSB-first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2560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4"/>
          <p:cNvSpPr/>
          <p:nvPr/>
        </p:nvSpPr>
        <p:spPr>
          <a:xfrm>
            <a:off x="5614416" y="1371600"/>
            <a:ext cx="1920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4"/>
          <p:cNvSpPr txBox="1"/>
          <p:nvPr/>
        </p:nvSpPr>
        <p:spPr>
          <a:xfrm>
            <a:off x="5614416" y="13716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histogram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22 × UInt32 · 88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4"/>
          <p:cNvSpPr/>
          <p:nvPr/>
        </p:nvSpPr>
        <p:spPr>
          <a:xfrm>
            <a:off x="7534656" y="1371600"/>
            <a:ext cx="1389888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4"/>
          <p:cNvSpPr txBox="1"/>
          <p:nvPr/>
        </p:nvSpPr>
        <p:spPr>
          <a:xfrm>
            <a:off x="7534656" y="1371600"/>
            <a:ext cx="13898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zero 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UInt16 · 2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4"/>
          <p:cNvSpPr txBox="1"/>
          <p:nvPr/>
        </p:nvSpPr>
        <p:spPr>
          <a:xfrm>
            <a:off x="219456" y="2121408"/>
            <a:ext cx="8705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Sparse ("small") form, up to 16 values: is_large = 0, count byte, then raw UInt64 ClickHouse hashes. Unwritable from a DataSketches sketch.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4" name="Google Shape;684;p24"/>
          <p:cNvGraphicFramePr/>
          <p:nvPr/>
        </p:nvGraphicFramePr>
        <p:xfrm>
          <a:off x="219456" y="26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{0B2FDE4A-4D6E-4CA3-AA40-ED7AF3605F34}</a:tableStyleId>
              </a:tblPr>
              <a:tblGrid>
                <a:gridCol w="2011675"/>
                <a:gridCol w="3346700"/>
                <a:gridCol w="33467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DataSketches HLL (Druid)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515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ClickHouse uniqHLL12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F6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lgK 4–21, per column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fixed 12 (4096 buckets)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Register width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/ 6 / 8 bits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bits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Rank ceiling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~63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Format contract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documented, versioned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606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06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internal, no guarantee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0A0A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0A0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5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Buckets and coupons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5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Druid coupons carry slot and rank; ClickHouse packs 5-bit registers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5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25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5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695" name="Google Shape;6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25"/>
          <p:cNvSpPr txBox="1"/>
          <p:nvPr/>
        </p:nvSpPr>
        <p:spPr>
          <a:xfrm>
            <a:off x="219456" y="1024128"/>
            <a:ext cx="8705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Druid coupon (UInt32)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5"/>
          <p:cNvSpPr/>
          <p:nvPr/>
        </p:nvSpPr>
        <p:spPr>
          <a:xfrm>
            <a:off x="219456" y="1344168"/>
            <a:ext cx="59436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5"/>
          <p:cNvSpPr txBox="1"/>
          <p:nvPr/>
        </p:nvSpPr>
        <p:spPr>
          <a:xfrm>
            <a:off x="219456" y="134416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slot  ·  bits 0–25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5"/>
          <p:cNvSpPr/>
          <p:nvPr/>
        </p:nvSpPr>
        <p:spPr>
          <a:xfrm>
            <a:off x="6163056" y="1344168"/>
            <a:ext cx="2761488" cy="50292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5"/>
          <p:cNvSpPr txBox="1"/>
          <p:nvPr/>
        </p:nvSpPr>
        <p:spPr>
          <a:xfrm>
            <a:off x="6163056" y="1344168"/>
            <a:ext cx="27614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rank  ·  bits 26–31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5"/>
          <p:cNvSpPr txBox="1"/>
          <p:nvPr/>
        </p:nvSpPr>
        <p:spPr>
          <a:xfrm>
            <a:off x="219456" y="1901952"/>
            <a:ext cx="8705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register index = slot &amp; (2^lgK − 1)       rank = coupon &gt;&gt; 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5"/>
          <p:cNvSpPr txBox="1"/>
          <p:nvPr/>
        </p:nvSpPr>
        <p:spPr>
          <a:xfrm>
            <a:off x="219456" y="2331720"/>
            <a:ext cx="8705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ClickHouse register array (2560 bytes)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219456" y="2670048"/>
            <a:ext cx="857250" cy="384048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5"/>
          <p:cNvSpPr txBox="1"/>
          <p:nvPr/>
        </p:nvSpPr>
        <p:spPr>
          <a:xfrm>
            <a:off x="219456" y="2670048"/>
            <a:ext cx="8572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M[0]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1076706" y="2670048"/>
            <a:ext cx="85725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5"/>
          <p:cNvSpPr txBox="1"/>
          <p:nvPr/>
        </p:nvSpPr>
        <p:spPr>
          <a:xfrm>
            <a:off x="1076706" y="2670048"/>
            <a:ext cx="8572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M[1]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1933956" y="2670048"/>
            <a:ext cx="857250" cy="384048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5"/>
          <p:cNvSpPr txBox="1"/>
          <p:nvPr/>
        </p:nvSpPr>
        <p:spPr>
          <a:xfrm>
            <a:off x="1933956" y="2670048"/>
            <a:ext cx="8572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M[2]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2791206" y="2670048"/>
            <a:ext cx="85725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5"/>
          <p:cNvSpPr txBox="1"/>
          <p:nvPr/>
        </p:nvSpPr>
        <p:spPr>
          <a:xfrm>
            <a:off x="2791206" y="2670048"/>
            <a:ext cx="8572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M[3]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3648456" y="2670048"/>
            <a:ext cx="857250" cy="384048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5"/>
          <p:cNvSpPr txBox="1"/>
          <p:nvPr/>
        </p:nvSpPr>
        <p:spPr>
          <a:xfrm>
            <a:off x="3648456" y="2670048"/>
            <a:ext cx="8572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M[4]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4505706" y="2670048"/>
            <a:ext cx="85725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5"/>
          <p:cNvSpPr txBox="1"/>
          <p:nvPr/>
        </p:nvSpPr>
        <p:spPr>
          <a:xfrm>
            <a:off x="4505706" y="2670048"/>
            <a:ext cx="8572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M[5]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5362956" y="2670048"/>
            <a:ext cx="857250" cy="384048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5"/>
          <p:cNvSpPr txBox="1"/>
          <p:nvPr/>
        </p:nvSpPr>
        <p:spPr>
          <a:xfrm>
            <a:off x="5362956" y="2670048"/>
            <a:ext cx="8572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M[6]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5"/>
          <p:cNvSpPr/>
          <p:nvPr/>
        </p:nvSpPr>
        <p:spPr>
          <a:xfrm>
            <a:off x="6220206" y="2670048"/>
            <a:ext cx="85725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5"/>
          <p:cNvSpPr txBox="1"/>
          <p:nvPr/>
        </p:nvSpPr>
        <p:spPr>
          <a:xfrm>
            <a:off x="6220206" y="2670048"/>
            <a:ext cx="8572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M[7]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5"/>
          <p:cNvSpPr/>
          <p:nvPr/>
        </p:nvSpPr>
        <p:spPr>
          <a:xfrm>
            <a:off x="7077456" y="2670048"/>
            <a:ext cx="1847088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5"/>
          <p:cNvSpPr txBox="1"/>
          <p:nvPr/>
        </p:nvSpPr>
        <p:spPr>
          <a:xfrm>
            <a:off x="7077456" y="267004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… M[4095]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5"/>
          <p:cNvSpPr/>
          <p:nvPr/>
        </p:nvSpPr>
        <p:spPr>
          <a:xfrm>
            <a:off x="219456" y="3090672"/>
            <a:ext cx="1371600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5"/>
          <p:cNvSpPr txBox="1"/>
          <p:nvPr/>
        </p:nvSpPr>
        <p:spPr>
          <a:xfrm>
            <a:off x="219456" y="30906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byte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5"/>
          <p:cNvSpPr/>
          <p:nvPr/>
        </p:nvSpPr>
        <p:spPr>
          <a:xfrm>
            <a:off x="1591056" y="3090672"/>
            <a:ext cx="1371600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5"/>
          <p:cNvSpPr txBox="1"/>
          <p:nvPr/>
        </p:nvSpPr>
        <p:spPr>
          <a:xfrm>
            <a:off x="1591056" y="30906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byte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5"/>
          <p:cNvSpPr/>
          <p:nvPr/>
        </p:nvSpPr>
        <p:spPr>
          <a:xfrm>
            <a:off x="2962656" y="3090672"/>
            <a:ext cx="1371600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5"/>
          <p:cNvSpPr txBox="1"/>
          <p:nvPr/>
        </p:nvSpPr>
        <p:spPr>
          <a:xfrm>
            <a:off x="2962656" y="30906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byte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5"/>
          <p:cNvSpPr/>
          <p:nvPr/>
        </p:nvSpPr>
        <p:spPr>
          <a:xfrm>
            <a:off x="4334256" y="3090672"/>
            <a:ext cx="1371600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5"/>
          <p:cNvSpPr txBox="1"/>
          <p:nvPr/>
        </p:nvSpPr>
        <p:spPr>
          <a:xfrm>
            <a:off x="4334256" y="30906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byte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5"/>
          <p:cNvSpPr/>
          <p:nvPr/>
        </p:nvSpPr>
        <p:spPr>
          <a:xfrm>
            <a:off x="5705856" y="3090672"/>
            <a:ext cx="1371600" cy="274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5"/>
          <p:cNvSpPr txBox="1"/>
          <p:nvPr/>
        </p:nvSpPr>
        <p:spPr>
          <a:xfrm>
            <a:off x="5705856" y="30906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byte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5"/>
          <p:cNvSpPr txBox="1"/>
          <p:nvPr/>
        </p:nvSpPr>
        <p:spPr>
          <a:xfrm>
            <a:off x="219456" y="3474720"/>
            <a:ext cx="870508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Registers straddle byte boundaries: one output byte can draw on up to three registers. Ranks above 21 must never be written, or the 22-slot histogram overflows and corrupts the state.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6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Hash functions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6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The deepest difference, and the one that cannot be bridged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6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26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6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742" name="Google Shape;7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26"/>
          <p:cNvSpPr txBox="1"/>
          <p:nvPr/>
        </p:nvSpPr>
        <p:spPr>
          <a:xfrm>
            <a:off x="219456" y="1024128"/>
            <a:ext cx="4215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DataSketches (Druid)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6"/>
          <p:cNvSpPr/>
          <p:nvPr/>
        </p:nvSpPr>
        <p:spPr>
          <a:xfrm>
            <a:off x="219456" y="1371600"/>
            <a:ext cx="4215384" cy="41148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6"/>
          <p:cNvSpPr txBox="1"/>
          <p:nvPr/>
        </p:nvSpPr>
        <p:spPr>
          <a:xfrm>
            <a:off x="219456" y="1371600"/>
            <a:ext cx="4215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MurmurHash3-128, seed 9001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6"/>
          <p:cNvSpPr/>
          <p:nvPr/>
        </p:nvSpPr>
        <p:spPr>
          <a:xfrm>
            <a:off x="219456" y="1874520"/>
            <a:ext cx="2061972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6"/>
          <p:cNvSpPr txBox="1"/>
          <p:nvPr/>
        </p:nvSpPr>
        <p:spPr>
          <a:xfrm>
            <a:off x="219456" y="1874520"/>
            <a:ext cx="20619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lane 1 (64 bit)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→ slot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6"/>
          <p:cNvSpPr/>
          <p:nvPr/>
        </p:nvSpPr>
        <p:spPr>
          <a:xfrm>
            <a:off x="2372868" y="1874520"/>
            <a:ext cx="2061972" cy="54864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6"/>
          <p:cNvSpPr txBox="1"/>
          <p:nvPr/>
        </p:nvSpPr>
        <p:spPr>
          <a:xfrm>
            <a:off x="2372868" y="1874520"/>
            <a:ext cx="20619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lane 2 (64 bit)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→ rank = lz + 1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6"/>
          <p:cNvSpPr txBox="1"/>
          <p:nvPr/>
        </p:nvSpPr>
        <p:spPr>
          <a:xfrm>
            <a:off x="219456" y="2560320"/>
            <a:ext cx="42153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Slot and rank are independent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Ranks up to ~63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Folding lgK 14 → 12 is a max over shared low bits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6"/>
          <p:cNvSpPr txBox="1"/>
          <p:nvPr/>
        </p:nvSpPr>
        <p:spPr>
          <a:xfrm>
            <a:off x="4709160" y="1024128"/>
            <a:ext cx="4215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ClickHouse uniqHLL12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6"/>
          <p:cNvSpPr/>
          <p:nvPr/>
        </p:nvSpPr>
        <p:spPr>
          <a:xfrm>
            <a:off x="4709160" y="1371600"/>
            <a:ext cx="4215384" cy="41148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6"/>
          <p:cNvSpPr txBox="1"/>
          <p:nvPr/>
        </p:nvSpPr>
        <p:spPr>
          <a:xfrm>
            <a:off x="4709160" y="1371600"/>
            <a:ext cx="4215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ClickHouse's own 32-bit hash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6"/>
          <p:cNvSpPr/>
          <p:nvPr/>
        </p:nvSpPr>
        <p:spPr>
          <a:xfrm>
            <a:off x="4709160" y="1874520"/>
            <a:ext cx="146304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6"/>
          <p:cNvSpPr txBox="1"/>
          <p:nvPr/>
        </p:nvSpPr>
        <p:spPr>
          <a:xfrm>
            <a:off x="4709160" y="18745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12 bits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→ bucket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6"/>
          <p:cNvSpPr/>
          <p:nvPr/>
        </p:nvSpPr>
        <p:spPr>
          <a:xfrm>
            <a:off x="6263640" y="1874520"/>
            <a:ext cx="2660904" cy="54864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6"/>
          <p:cNvSpPr txBox="1"/>
          <p:nvPr/>
        </p:nvSpPr>
        <p:spPr>
          <a:xfrm>
            <a:off x="6263640" y="1874520"/>
            <a:ext cx="26609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20-bit tail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→ </a:t>
            </a:r>
            <a:r>
              <a:rPr lang="en-US" sz="1200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rank = tz + 1 ≤ 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6"/>
          <p:cNvSpPr txBox="1"/>
          <p:nvPr/>
        </p:nvSpPr>
        <p:spPr>
          <a:xfrm>
            <a:off x="4709160" y="2560320"/>
            <a:ext cx="42153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Bucket and rank from one 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lang="en-US" sz="130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Rank capped at 21 (confirmed in source)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Inter"/>
              <a:buChar char="•"/>
            </a:pP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No seed hash in either HLL format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admiring-amazing-mayer/mnt/outputs/deck/assets/full-logo-white.png" id="764" name="Google Shape;7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" y="420624"/>
            <a:ext cx="137754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27"/>
          <p:cNvSpPr/>
          <p:nvPr/>
        </p:nvSpPr>
        <p:spPr>
          <a:xfrm>
            <a:off x="0" y="3794760"/>
            <a:ext cx="9144000" cy="1348740"/>
          </a:xfrm>
          <a:custGeom>
            <a:rect b="b" l="l" r="r" t="t"/>
            <a:pathLst>
              <a:path extrusionOk="0" h="1348740" w="9144000">
                <a:moveTo>
                  <a:pt x="0" y="365760"/>
                </a:moveTo>
                <a:lnTo>
                  <a:pt x="9144000" y="0"/>
                </a:lnTo>
                <a:lnTo>
                  <a:pt x="9144000" y="1348740"/>
                </a:lnTo>
                <a:lnTo>
                  <a:pt x="0" y="134874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27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7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768" name="Google Shape;76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27"/>
          <p:cNvSpPr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7"/>
          <p:cNvSpPr txBox="1"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7"/>
          <p:cNvSpPr txBox="1"/>
          <p:nvPr/>
        </p:nvSpPr>
        <p:spPr>
          <a:xfrm>
            <a:off x="1627632" y="1325880"/>
            <a:ext cx="729691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Migrating HLL sketches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7"/>
          <p:cNvSpPr txBox="1"/>
          <p:nvPr/>
        </p:nvSpPr>
        <p:spPr>
          <a:xfrm>
            <a:off x="219456" y="3017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Two working paths: export the answers, or transplant the registers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8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The obvious way: export finalized aggregates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8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Pre-merge in Python at every grain you need, then store plain numbers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8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28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8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783" name="Google Shape;7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28"/>
          <p:cNvSpPr txBox="1"/>
          <p:nvPr/>
        </p:nvSpPr>
        <p:spPr>
          <a:xfrm>
            <a:off x="219456" y="1024128"/>
            <a:ext cx="493776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Union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Druid sketches with hll_union per grain, write estimate + lower/upper bounds.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Exact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every number is what Druid would have reported at that grain.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Never sum estimates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across rows to fake a union.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Optional: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carry the raw bytes as String and merge at query time with an executable UDF (hllMergeEstimate).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Druid trap: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APPROX_COUNT_DISTINCT_DS_HLL merges at lgK 12 by default. Pass the real lgK when validating.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8"/>
          <p:cNvSpPr/>
          <p:nvPr/>
        </p:nvSpPr>
        <p:spPr>
          <a:xfrm>
            <a:off x="5440680" y="1024128"/>
            <a:ext cx="3483864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8"/>
          <p:cNvSpPr txBox="1"/>
          <p:nvPr/>
        </p:nvSpPr>
        <p:spPr>
          <a:xfrm>
            <a:off x="5440680" y="1024128"/>
            <a:ext cx="34838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hour_dims   ·   2486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8"/>
          <p:cNvSpPr/>
          <p:nvPr/>
        </p:nvSpPr>
        <p:spPr>
          <a:xfrm>
            <a:off x="5623560" y="1591056"/>
            <a:ext cx="3118104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8"/>
          <p:cNvSpPr txBox="1"/>
          <p:nvPr/>
        </p:nvSpPr>
        <p:spPr>
          <a:xfrm>
            <a:off x="5623560" y="1591056"/>
            <a:ext cx="31181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hour_channel   ·   909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8"/>
          <p:cNvSpPr/>
          <p:nvPr/>
        </p:nvSpPr>
        <p:spPr>
          <a:xfrm>
            <a:off x="5806440" y="2157984"/>
            <a:ext cx="2752344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8"/>
          <p:cNvSpPr txBox="1"/>
          <p:nvPr/>
        </p:nvSpPr>
        <p:spPr>
          <a:xfrm>
            <a:off x="5806440" y="2157984"/>
            <a:ext cx="2752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day_channel   ·   51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8"/>
          <p:cNvSpPr/>
          <p:nvPr/>
        </p:nvSpPr>
        <p:spPr>
          <a:xfrm>
            <a:off x="5989320" y="2724912"/>
            <a:ext cx="2386584" cy="41148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8"/>
          <p:cNvSpPr txBox="1"/>
          <p:nvPr/>
        </p:nvSpPr>
        <p:spPr>
          <a:xfrm>
            <a:off x="5989320" y="2724912"/>
            <a:ext cx="23865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day_total   ·   1 row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8"/>
          <p:cNvSpPr/>
          <p:nvPr/>
        </p:nvSpPr>
        <p:spPr>
          <a:xfrm>
            <a:off x="5440680" y="3401568"/>
            <a:ext cx="1188720" cy="68580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8"/>
          <p:cNvSpPr txBox="1"/>
          <p:nvPr/>
        </p:nvSpPr>
        <p:spPr>
          <a:xfrm>
            <a:off x="5440680" y="340156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1.6×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8"/>
          <p:cNvSpPr txBox="1"/>
          <p:nvPr/>
        </p:nvSpPr>
        <p:spPr>
          <a:xfrm>
            <a:off x="6739128" y="3401568"/>
            <a:ext cx="21854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inflation from summing estimates instead of unioning (17193 vs 10564)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9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Exporting state: mapping coupons to buckets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9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Build a native 2651-byte uniqHLL12 state from Druid's registers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9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" name="Google Shape;804;p29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9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806" name="Google Shape;8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29"/>
          <p:cNvSpPr/>
          <p:nvPr/>
        </p:nvSpPr>
        <p:spPr>
          <a:xfrm>
            <a:off x="219456" y="1024128"/>
            <a:ext cx="163129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9"/>
          <p:cNvSpPr/>
          <p:nvPr/>
        </p:nvSpPr>
        <p:spPr>
          <a:xfrm>
            <a:off x="329184" y="1133856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9"/>
          <p:cNvSpPr txBox="1"/>
          <p:nvPr/>
        </p:nvSpPr>
        <p:spPr>
          <a:xfrm>
            <a:off x="329184" y="1133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9"/>
          <p:cNvSpPr txBox="1"/>
          <p:nvPr/>
        </p:nvSpPr>
        <p:spPr>
          <a:xfrm>
            <a:off x="329184" y="1600200"/>
            <a:ext cx="14118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Read header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 txBox="1"/>
          <p:nvPr/>
        </p:nvSpPr>
        <p:spPr>
          <a:xfrm>
            <a:off x="329184" y="1920240"/>
            <a:ext cx="141183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lgK from byte 3, mode and type from byte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9"/>
          <p:cNvSpPr/>
          <p:nvPr/>
        </p:nvSpPr>
        <p:spPr>
          <a:xfrm>
            <a:off x="1987906" y="1024128"/>
            <a:ext cx="163129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9"/>
          <p:cNvSpPr/>
          <p:nvPr/>
        </p:nvSpPr>
        <p:spPr>
          <a:xfrm>
            <a:off x="2097634" y="1133856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9"/>
          <p:cNvSpPr txBox="1"/>
          <p:nvPr/>
        </p:nvSpPr>
        <p:spPr>
          <a:xfrm>
            <a:off x="2097634" y="1133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9"/>
          <p:cNvSpPr txBox="1"/>
          <p:nvPr/>
        </p:nvSpPr>
        <p:spPr>
          <a:xfrm>
            <a:off x="2097634" y="1600200"/>
            <a:ext cx="14118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Get registers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9"/>
          <p:cNvSpPr txBox="1"/>
          <p:nvPr/>
        </p:nvSpPr>
        <p:spPr>
          <a:xfrm>
            <a:off x="2097634" y="1920240"/>
            <a:ext cx="141183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Sparse: coupon list. Dense: convert to HLL_8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9"/>
          <p:cNvSpPr/>
          <p:nvPr/>
        </p:nvSpPr>
        <p:spPr>
          <a:xfrm>
            <a:off x="3756355" y="1024128"/>
            <a:ext cx="163129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9"/>
          <p:cNvSpPr/>
          <p:nvPr/>
        </p:nvSpPr>
        <p:spPr>
          <a:xfrm>
            <a:off x="3866083" y="1133856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9"/>
          <p:cNvSpPr txBox="1"/>
          <p:nvPr/>
        </p:nvSpPr>
        <p:spPr>
          <a:xfrm>
            <a:off x="3866083" y="1133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9"/>
          <p:cNvSpPr txBox="1"/>
          <p:nvPr/>
        </p:nvSpPr>
        <p:spPr>
          <a:xfrm>
            <a:off x="3866083" y="1600200"/>
            <a:ext cx="14118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Fold to 4096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9"/>
          <p:cNvSpPr txBox="1"/>
          <p:nvPr/>
        </p:nvSpPr>
        <p:spPr>
          <a:xfrm>
            <a:off x="3866083" y="1920240"/>
            <a:ext cx="141183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bucket = slot &amp; 4095, rank = c &gt;&gt; 26, max per bucket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9"/>
          <p:cNvSpPr/>
          <p:nvPr/>
        </p:nvSpPr>
        <p:spPr>
          <a:xfrm>
            <a:off x="5524805" y="1024128"/>
            <a:ext cx="163129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9"/>
          <p:cNvSpPr/>
          <p:nvPr/>
        </p:nvSpPr>
        <p:spPr>
          <a:xfrm>
            <a:off x="5634533" y="1133856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9"/>
          <p:cNvSpPr txBox="1"/>
          <p:nvPr/>
        </p:nvSpPr>
        <p:spPr>
          <a:xfrm>
            <a:off x="5634533" y="1133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9"/>
          <p:cNvSpPr txBox="1"/>
          <p:nvPr/>
        </p:nvSpPr>
        <p:spPr>
          <a:xfrm>
            <a:off x="5634533" y="1600200"/>
            <a:ext cx="14118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Clamp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9"/>
          <p:cNvSpPr txBox="1"/>
          <p:nvPr/>
        </p:nvSpPr>
        <p:spPr>
          <a:xfrm>
            <a:off x="5634533" y="1920240"/>
            <a:ext cx="141183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rank = min(rank, 21)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9"/>
          <p:cNvSpPr/>
          <p:nvPr/>
        </p:nvSpPr>
        <p:spPr>
          <a:xfrm>
            <a:off x="7293254" y="1024128"/>
            <a:ext cx="163129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9"/>
          <p:cNvSpPr/>
          <p:nvPr/>
        </p:nvSpPr>
        <p:spPr>
          <a:xfrm>
            <a:off x="7402982" y="1133856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9"/>
          <p:cNvSpPr txBox="1"/>
          <p:nvPr/>
        </p:nvSpPr>
        <p:spPr>
          <a:xfrm>
            <a:off x="7402982" y="1133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9"/>
          <p:cNvSpPr txBox="1"/>
          <p:nvPr/>
        </p:nvSpPr>
        <p:spPr>
          <a:xfrm>
            <a:off x="7402982" y="1600200"/>
            <a:ext cx="141183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Pack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9"/>
          <p:cNvSpPr txBox="1"/>
          <p:nvPr/>
        </p:nvSpPr>
        <p:spPr>
          <a:xfrm>
            <a:off x="7402982" y="1920240"/>
            <a:ext cx="141183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5-bit registers + histogram + zero count, then CAST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9"/>
          <p:cNvSpPr txBox="1"/>
          <p:nvPr/>
        </p:nvSpPr>
        <p:spPr>
          <a:xfrm>
            <a:off x="219456" y="3017520"/>
            <a:ext cx="2718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000"/>
              <a:buFont typeface="Inter"/>
              <a:buNone/>
            </a:pPr>
            <a:r>
              <a:rPr b="1" lang="en-US" sz="2000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3.46% / 0.59%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9"/>
          <p:cNvSpPr txBox="1"/>
          <p:nvPr/>
        </p:nvSpPr>
        <p:spPr>
          <a:xfrm>
            <a:off x="219456" y="3429000"/>
            <a:ext cx="27188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drift vs Druid across all rows (users / pages)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9"/>
          <p:cNvSpPr txBox="1"/>
          <p:nvPr/>
        </p:nvSpPr>
        <p:spPr>
          <a:xfrm>
            <a:off x="3212592" y="3017520"/>
            <a:ext cx="2718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lgK 14 → 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9"/>
          <p:cNvSpPr txBox="1"/>
          <p:nvPr/>
        </p:nvSpPr>
        <p:spPr>
          <a:xfrm>
            <a:off x="3212592" y="3429000"/>
            <a:ext cx="27188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folding halves precision; uniqCombined64(lgK) avoids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9"/>
          <p:cNvSpPr txBox="1"/>
          <p:nvPr/>
        </p:nvSpPr>
        <p:spPr>
          <a:xfrm>
            <a:off x="6205728" y="3017520"/>
            <a:ext cx="2718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re-validate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9"/>
          <p:cNvSpPr txBox="1"/>
          <p:nvPr/>
        </p:nvSpPr>
        <p:spPr>
          <a:xfrm>
            <a:off x="6205728" y="3429000"/>
            <a:ext cx="27188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the format is reverse-engineered; re-run the spike after every upgrade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0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The coupon mapping in SQL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0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The heart of the SQL-only transplant: coupons to a max rank per bucket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0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p30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0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848" name="Google Shape;8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30"/>
          <p:cNvSpPr/>
          <p:nvPr/>
        </p:nvSpPr>
        <p:spPr>
          <a:xfrm>
            <a:off x="219456" y="1024128"/>
            <a:ext cx="8705088" cy="269748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0"/>
          <p:cNvSpPr txBox="1"/>
          <p:nvPr/>
        </p:nvSpPr>
        <p:spPr>
          <a:xfrm>
            <a:off x="219456" y="1024128"/>
            <a:ext cx="8705088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0" lIns="1270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-- preamble length = preInts *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*, bitAnd(reinterpretAsUInt8(substring(sk, 1, 1)), 63) * 4 AS pre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-- coupons: UInt32 each, after the preamble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arrayMap(i -&gt; reinterpretAsUInt32(substring(sk, pre + 1 + i*4, 4)),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range(intDiv(length(sk) - pre, 4)))                      AS cps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-- max rank per bucket; masking with 4095 also folds lgK 14 -&gt;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F6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AFF69"/>
                </a:solidFill>
                <a:latin typeface="Courier New"/>
                <a:ea typeface="Courier New"/>
                <a:cs typeface="Courier New"/>
                <a:sym typeface="Courier New"/>
              </a:rPr>
              <a:t>arrayReduce('maxMap',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F6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AFF69"/>
                </a:solidFill>
                <a:latin typeface="Courier New"/>
                <a:ea typeface="Courier New"/>
                <a:cs typeface="Courier New"/>
                <a:sym typeface="Courier New"/>
              </a:rPr>
              <a:t>  [arrayMap(c -&gt; toUInt16(bitAnd(c, 4095)), cps)],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F69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AFF69"/>
                </a:solidFill>
                <a:latin typeface="Courier New"/>
                <a:ea typeface="Courier New"/>
                <a:cs typeface="Courier New"/>
                <a:sym typeface="Courier New"/>
              </a:rPr>
              <a:t>  [arrayMap(c -&gt; toUInt8(least(bitShiftRight(c, 26), 21)), cps)]) AS mm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-- then: pack 4096 x 5 bits, append histogram + zero count,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0A0A0"/>
                </a:solidFill>
                <a:latin typeface="Courier New"/>
                <a:ea typeface="Courier New"/>
                <a:cs typeface="Courier New"/>
                <a:sym typeface="Courier New"/>
              </a:rPr>
              <a:t>-- unhex(...) and CAST AS AggregateFunction(uniqHLL12, String)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0"/>
          <p:cNvSpPr txBox="1"/>
          <p:nvPr/>
        </p:nvSpPr>
        <p:spPr>
          <a:xfrm>
            <a:off x="219456" y="3767328"/>
            <a:ext cx="87050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Sparse input only: run the guard query first. Chunk the INSERT (~96 rows per run), or the register broadcast tries to allocate 24 GiB.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1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Caveat: never merge with ClickHouse native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1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Both states have the same type, so ClickHouse merges them silently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p31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1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862" name="Google Shape;8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31"/>
          <p:cNvSpPr txBox="1"/>
          <p:nvPr/>
        </p:nvSpPr>
        <p:spPr>
          <a:xfrm>
            <a:off x="219456" y="1024128"/>
            <a:ext cx="19705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1000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1"/>
          <p:cNvSpPr/>
          <p:nvPr/>
        </p:nvSpPr>
        <p:spPr>
          <a:xfrm>
            <a:off x="219456" y="1938528"/>
            <a:ext cx="548640" cy="7315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1"/>
          <p:cNvSpPr txBox="1"/>
          <p:nvPr/>
        </p:nvSpPr>
        <p:spPr>
          <a:xfrm>
            <a:off x="219456" y="2103120"/>
            <a:ext cx="19705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Truth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1"/>
          <p:cNvSpPr txBox="1"/>
          <p:nvPr/>
        </p:nvSpPr>
        <p:spPr>
          <a:xfrm>
            <a:off x="219456" y="2414016"/>
            <a:ext cx="19705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The same 1000 values, loaded both ways.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1"/>
          <p:cNvSpPr txBox="1"/>
          <p:nvPr/>
        </p:nvSpPr>
        <p:spPr>
          <a:xfrm>
            <a:off x="2464308" y="1024128"/>
            <a:ext cx="19705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989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1"/>
          <p:cNvSpPr/>
          <p:nvPr/>
        </p:nvSpPr>
        <p:spPr>
          <a:xfrm>
            <a:off x="2464308" y="1938528"/>
            <a:ext cx="548640" cy="7315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1"/>
          <p:cNvSpPr txBox="1"/>
          <p:nvPr/>
        </p:nvSpPr>
        <p:spPr>
          <a:xfrm>
            <a:off x="2464308" y="2103120"/>
            <a:ext cx="19705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Transplanted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1"/>
          <p:cNvSpPr txBox="1"/>
          <p:nvPr/>
        </p:nvSpPr>
        <p:spPr>
          <a:xfrm>
            <a:off x="2464308" y="2414016"/>
            <a:ext cx="19705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Druid sketch, registers copied into uniqHLL12.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1"/>
          <p:cNvSpPr txBox="1"/>
          <p:nvPr/>
        </p:nvSpPr>
        <p:spPr>
          <a:xfrm>
            <a:off x="4709160" y="1024128"/>
            <a:ext cx="19705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1001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1"/>
          <p:cNvSpPr/>
          <p:nvPr/>
        </p:nvSpPr>
        <p:spPr>
          <a:xfrm>
            <a:off x="4709160" y="1938528"/>
            <a:ext cx="548640" cy="7315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1"/>
          <p:cNvSpPr txBox="1"/>
          <p:nvPr/>
        </p:nvSpPr>
        <p:spPr>
          <a:xfrm>
            <a:off x="4709160" y="2103120"/>
            <a:ext cx="19705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Native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1"/>
          <p:cNvSpPr txBox="1"/>
          <p:nvPr/>
        </p:nvSpPr>
        <p:spPr>
          <a:xfrm>
            <a:off x="4709160" y="2414016"/>
            <a:ext cx="19705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uniqHLL12State() over the raw values.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1"/>
          <p:cNvSpPr txBox="1"/>
          <p:nvPr/>
        </p:nvSpPr>
        <p:spPr>
          <a:xfrm>
            <a:off x="6954012" y="1024128"/>
            <a:ext cx="19705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2022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1"/>
          <p:cNvSpPr/>
          <p:nvPr/>
        </p:nvSpPr>
        <p:spPr>
          <a:xfrm>
            <a:off x="6954012" y="1938528"/>
            <a:ext cx="548640" cy="73152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1"/>
          <p:cNvSpPr txBox="1"/>
          <p:nvPr/>
        </p:nvSpPr>
        <p:spPr>
          <a:xfrm>
            <a:off x="6954012" y="2103120"/>
            <a:ext cx="19705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Merged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1"/>
          <p:cNvSpPr txBox="1"/>
          <p:nvPr/>
        </p:nvSpPr>
        <p:spPr>
          <a:xfrm>
            <a:off x="6954012" y="2414016"/>
            <a:ext cx="19705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Overlap was total. None of it was detected.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1"/>
          <p:cNvSpPr/>
          <p:nvPr/>
        </p:nvSpPr>
        <p:spPr>
          <a:xfrm>
            <a:off x="219456" y="3429000"/>
            <a:ext cx="8705088" cy="566928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1"/>
          <p:cNvSpPr txBox="1"/>
          <p:nvPr/>
        </p:nvSpPr>
        <p:spPr>
          <a:xfrm>
            <a:off x="219456" y="3429000"/>
            <a:ext cx="8705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uniqHLL12State() or uniqCombined64State() insert into a transplanted column</a:t>
            </a: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corrupts every historical number in it, silently.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2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Why the merge double-counts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2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Union is a bucket-wise max: it needs one shared key → bucket map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2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32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2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891" name="Google Shape;89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32"/>
          <p:cNvSpPr/>
          <p:nvPr/>
        </p:nvSpPr>
        <p:spPr>
          <a:xfrm>
            <a:off x="219456" y="1600200"/>
            <a:ext cx="1371600" cy="50292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2"/>
          <p:cNvSpPr txBox="1"/>
          <p:nvPr/>
        </p:nvSpPr>
        <p:spPr>
          <a:xfrm>
            <a:off x="219456" y="16002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key "alice"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2"/>
          <p:cNvSpPr/>
          <p:nvPr/>
        </p:nvSpPr>
        <p:spPr>
          <a:xfrm>
            <a:off x="2103120" y="1051560"/>
            <a:ext cx="2194560" cy="54864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2"/>
          <p:cNvSpPr txBox="1"/>
          <p:nvPr/>
        </p:nvSpPr>
        <p:spPr>
          <a:xfrm>
            <a:off x="2103120" y="1051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MurmurHash3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bucket 1873, rank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2"/>
          <p:cNvSpPr/>
          <p:nvPr/>
        </p:nvSpPr>
        <p:spPr>
          <a:xfrm>
            <a:off x="2103120" y="2103120"/>
            <a:ext cx="21945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2"/>
          <p:cNvSpPr txBox="1"/>
          <p:nvPr/>
        </p:nvSpPr>
        <p:spPr>
          <a:xfrm>
            <a:off x="2103120" y="2103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ClickHouse hash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Courier New"/>
                <a:ea typeface="Courier New"/>
                <a:cs typeface="Courier New"/>
                <a:sym typeface="Courier New"/>
              </a:rPr>
              <a:t>bucket 402, rank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8" name="Google Shape;898;p32"/>
          <p:cNvCxnSpPr/>
          <p:nvPr/>
        </p:nvCxnSpPr>
        <p:spPr>
          <a:xfrm flipH="1" rot="10800000">
            <a:off x="1591056" y="1325880"/>
            <a:ext cx="512064" cy="411480"/>
          </a:xfrm>
          <a:prstGeom prst="straightConnector1">
            <a:avLst/>
          </a:prstGeom>
          <a:noFill/>
          <a:ln cap="flat" cmpd="sng" w="19050">
            <a:solidFill>
              <a:srgbClr val="15151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9" name="Google Shape;899;p32"/>
          <p:cNvCxnSpPr/>
          <p:nvPr/>
        </p:nvCxnSpPr>
        <p:spPr>
          <a:xfrm>
            <a:off x="1591056" y="1965960"/>
            <a:ext cx="512064" cy="411480"/>
          </a:xfrm>
          <a:prstGeom prst="straightConnector1">
            <a:avLst/>
          </a:prstGeom>
          <a:noFill/>
          <a:ln cap="flat" cmpd="sng" w="19050">
            <a:solidFill>
              <a:srgbClr val="15151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0" name="Google Shape;900;p32"/>
          <p:cNvSpPr txBox="1"/>
          <p:nvPr/>
        </p:nvSpPr>
        <p:spPr>
          <a:xfrm>
            <a:off x="219456" y="2743200"/>
            <a:ext cx="40782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Illustrative bucket numbers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2"/>
          <p:cNvSpPr txBox="1"/>
          <p:nvPr/>
        </p:nvSpPr>
        <p:spPr>
          <a:xfrm>
            <a:off x="219456" y="3017520"/>
            <a:ext cx="40782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Same key, two unrelated slots. Max over buckets now behaves like a union of two disjoint sets.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2"/>
          <p:cNvSpPr txBox="1"/>
          <p:nvPr/>
        </p:nvSpPr>
        <p:spPr>
          <a:xfrm>
            <a:off x="4572000" y="1024128"/>
            <a:ext cx="4352544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Estimate survives transplant: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 depends only on the multiset of register values, so a permuted array still estimates the same 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Transplanted ∪ transplanted works: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all share DataSketches hashing. A ∪ B = 1509 vs truth 1500.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Transplanted ∪ native breaks: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different hash, different map.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Theta escapes this: </a:t>
            </a:r>
            <a:r>
              <a:rPr b="0" i="0" lang="en-US" sz="13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it stores the hashes, and both sides use the same hash. HLL threw them away.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admiring-amazing-mayer/mnt/outputs/deck/assets/full-logo-white.png" id="908" name="Google Shape;9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" y="420624"/>
            <a:ext cx="137754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33"/>
          <p:cNvSpPr/>
          <p:nvPr/>
        </p:nvSpPr>
        <p:spPr>
          <a:xfrm>
            <a:off x="0" y="3794760"/>
            <a:ext cx="9144000" cy="1348740"/>
          </a:xfrm>
          <a:custGeom>
            <a:rect b="b" l="l" r="r" t="t"/>
            <a:pathLst>
              <a:path extrusionOk="0" h="1348740" w="9144000">
                <a:moveTo>
                  <a:pt x="0" y="365760"/>
                </a:moveTo>
                <a:lnTo>
                  <a:pt x="9144000" y="0"/>
                </a:lnTo>
                <a:lnTo>
                  <a:pt x="9144000" y="1348740"/>
                </a:lnTo>
                <a:lnTo>
                  <a:pt x="0" y="134874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0" name="Google Shape;910;p33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3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912" name="Google Shape;91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33"/>
          <p:cNvSpPr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3"/>
          <p:cNvSpPr txBox="1"/>
          <p:nvPr/>
        </p:nvSpPr>
        <p:spPr>
          <a:xfrm>
            <a:off x="219456" y="173736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3"/>
          <p:cNvSpPr txBox="1"/>
          <p:nvPr/>
        </p:nvSpPr>
        <p:spPr>
          <a:xfrm>
            <a:off x="1627632" y="1325880"/>
            <a:ext cx="729691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3"/>
          <p:cNvSpPr txBox="1"/>
          <p:nvPr/>
        </p:nvSpPr>
        <p:spPr>
          <a:xfrm>
            <a:off x="219456" y="3017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Pick the path by what the column has to do after migration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4"/>
          <p:cNvSpPr txBox="1"/>
          <p:nvPr/>
        </p:nvSpPr>
        <p:spPr>
          <a:xfrm>
            <a:off x="219456" y="219456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4"/>
          <p:cNvSpPr txBox="1"/>
          <p:nvPr/>
        </p:nvSpPr>
        <p:spPr>
          <a:xfrm>
            <a:off x="219456" y="61264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Theta migrates cleanly; HLL means choosing exact answers or native merges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4"/>
          <p:cNvSpPr/>
          <p:nvPr/>
        </p:nvSpPr>
        <p:spPr>
          <a:xfrm>
            <a:off x="0" y="4206240"/>
            <a:ext cx="9144000" cy="937260"/>
          </a:xfrm>
          <a:custGeom>
            <a:rect b="b" l="l" r="r" t="t"/>
            <a:pathLst>
              <a:path extrusionOk="0" h="937260" w="9144000">
                <a:moveTo>
                  <a:pt x="0" y="310896"/>
                </a:moveTo>
                <a:lnTo>
                  <a:pt x="9144000" y="0"/>
                </a:lnTo>
                <a:lnTo>
                  <a:pt x="9144000" y="937260"/>
                </a:lnTo>
                <a:lnTo>
                  <a:pt x="0" y="93726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34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4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927" name="Google Shape;92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34"/>
          <p:cNvSpPr/>
          <p:nvPr/>
        </p:nvSpPr>
        <p:spPr>
          <a:xfrm>
            <a:off x="219456" y="1024128"/>
            <a:ext cx="2718816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4"/>
          <p:cNvSpPr/>
          <p:nvPr/>
        </p:nvSpPr>
        <p:spPr>
          <a:xfrm>
            <a:off x="356616" y="1161288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4"/>
          <p:cNvSpPr txBox="1"/>
          <p:nvPr/>
        </p:nvSpPr>
        <p:spPr>
          <a:xfrm>
            <a:off x="356616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4"/>
          <p:cNvSpPr txBox="1"/>
          <p:nvPr/>
        </p:nvSpPr>
        <p:spPr>
          <a:xfrm>
            <a:off x="859536" y="1133856"/>
            <a:ext cx="1969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Theta → uniqTheta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4"/>
          <p:cNvSpPr txBox="1"/>
          <p:nvPr/>
        </p:nvSpPr>
        <p:spPr>
          <a:xfrm>
            <a:off x="356616" y="1682496"/>
            <a:ext cx="2444496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Lossless: add a LEB128 header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Merges with native ClickHouse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Use 64-bit or String argument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Prefer theta wherever you can rebuild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4"/>
          <p:cNvSpPr/>
          <p:nvPr/>
        </p:nvSpPr>
        <p:spPr>
          <a:xfrm>
            <a:off x="3212592" y="1024128"/>
            <a:ext cx="2718816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4"/>
          <p:cNvSpPr/>
          <p:nvPr/>
        </p:nvSpPr>
        <p:spPr>
          <a:xfrm>
            <a:off x="3349752" y="1161288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4"/>
          <p:cNvSpPr txBox="1"/>
          <p:nvPr/>
        </p:nvSpPr>
        <p:spPr>
          <a:xfrm>
            <a:off x="3349752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4"/>
          <p:cNvSpPr txBox="1"/>
          <p:nvPr/>
        </p:nvSpPr>
        <p:spPr>
          <a:xfrm>
            <a:off x="3852672" y="1133856"/>
            <a:ext cx="1969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HLL → finalized values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4"/>
          <p:cNvSpPr txBox="1"/>
          <p:nvPr/>
        </p:nvSpPr>
        <p:spPr>
          <a:xfrm>
            <a:off x="3349752" y="1682496"/>
            <a:ext cx="2444496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Exact Druid numbers per grain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Pre-merge every grain you need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Optionally carry bytes + UDF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Mergeable with anything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4"/>
          <p:cNvSpPr/>
          <p:nvPr/>
        </p:nvSpPr>
        <p:spPr>
          <a:xfrm>
            <a:off x="6205728" y="1024128"/>
            <a:ext cx="2718816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0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4"/>
          <p:cNvSpPr/>
          <p:nvPr/>
        </p:nvSpPr>
        <p:spPr>
          <a:xfrm>
            <a:off x="6342888" y="1161288"/>
            <a:ext cx="384048" cy="384048"/>
          </a:xfrm>
          <a:prstGeom prst="rect">
            <a:avLst/>
          </a:pr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4"/>
          <p:cNvSpPr txBox="1"/>
          <p:nvPr/>
        </p:nvSpPr>
        <p:spPr>
          <a:xfrm>
            <a:off x="6342888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4"/>
          <p:cNvSpPr txBox="1"/>
          <p:nvPr/>
        </p:nvSpPr>
        <p:spPr>
          <a:xfrm>
            <a:off x="6845808" y="1133856"/>
            <a:ext cx="1969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HLL → transplant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4"/>
          <p:cNvSpPr txBox="1"/>
          <p:nvPr/>
        </p:nvSpPr>
        <p:spPr>
          <a:xfrm>
            <a:off x="6342888" y="1682496"/>
            <a:ext cx="2444496" cy="1764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5080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lang="en-US" sz="120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Native merge via uniqHLL12 or uniqCombined64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lang="en-US" sz="120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~1–4% drift; uniqCombined64 keeps lgK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Never mix with native states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4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Inter"/>
              <a:buChar char="•"/>
            </a:pPr>
            <a:r>
              <a:rPr b="0" i="0" lang="en-US" sz="12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Re-validate after upgrades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4"/>
          <p:cNvSpPr txBox="1"/>
          <p:nvPr/>
        </p:nvSpPr>
        <p:spPr>
          <a:xfrm>
            <a:off x="219456" y="3657600"/>
            <a:ext cx="8705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51515"/>
                </a:solidFill>
                <a:latin typeface="Inter"/>
                <a:ea typeface="Inter"/>
                <a:cs typeface="Inter"/>
                <a:sym typeface="Inter"/>
              </a:rPr>
              <a:t>Code, tests and format notes: github.com/hellmarbecker/druid-sketches-migration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admiring-amazing-mayer/mnt/outputs/deck/assets/full-logo-white.png" id="949" name="Google Shape;94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" y="420624"/>
            <a:ext cx="137754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35"/>
          <p:cNvSpPr/>
          <p:nvPr/>
        </p:nvSpPr>
        <p:spPr>
          <a:xfrm>
            <a:off x="0" y="3794760"/>
            <a:ext cx="9144000" cy="1348740"/>
          </a:xfrm>
          <a:custGeom>
            <a:rect b="b" l="l" r="r" t="t"/>
            <a:pathLst>
              <a:path extrusionOk="0" h="1348740" w="9144000">
                <a:moveTo>
                  <a:pt x="0" y="365760"/>
                </a:moveTo>
                <a:lnTo>
                  <a:pt x="9144000" y="0"/>
                </a:lnTo>
                <a:lnTo>
                  <a:pt x="9144000" y="1348740"/>
                </a:lnTo>
                <a:lnTo>
                  <a:pt x="0" y="1348740"/>
                </a:lnTo>
                <a:close/>
              </a:path>
            </a:pathLst>
          </a:custGeom>
          <a:solidFill>
            <a:srgbClr val="FAFF69"/>
          </a:solidFill>
          <a:ln cap="flat" cmpd="sng" w="12700">
            <a:solidFill>
              <a:srgbClr val="FAFF6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35"/>
          <p:cNvSpPr txBox="1"/>
          <p:nvPr/>
        </p:nvSpPr>
        <p:spPr>
          <a:xfrm>
            <a:off x="182880" y="4892040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5"/>
          <p:cNvSpPr txBox="1"/>
          <p:nvPr/>
        </p:nvSpPr>
        <p:spPr>
          <a:xfrm>
            <a:off x="59436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©2026 CLICKHOUSE INC., CONFIDENTIAL &amp; PROPRIETARY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admiring-amazing-mayer/mnt/outputs/deck/assets/full-logo-black.png" id="953" name="Google Shape;95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468" y="4892040"/>
            <a:ext cx="5989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35"/>
          <p:cNvSpPr txBox="1"/>
          <p:nvPr/>
        </p:nvSpPr>
        <p:spPr>
          <a:xfrm>
            <a:off x="443484" y="1371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nter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5"/>
          <p:cNvSpPr txBox="1"/>
          <p:nvPr/>
        </p:nvSpPr>
        <p:spPr>
          <a:xfrm>
            <a:off x="443484" y="228600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github.com/hellmarbecker/druid-sketches-migration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R code: https://github.com/hellmarbecker/druid-sketches-migration" id="956" name="Google Shape;95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3720" y="109728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35"/>
          <p:cNvSpPr txBox="1"/>
          <p:nvPr/>
        </p:nvSpPr>
        <p:spPr>
          <a:xfrm>
            <a:off x="6903720" y="290779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rPr>
              <a:t>Scan for the repo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5"/>
          <p:cNvSpPr txBox="1"/>
          <p:nvPr/>
        </p:nvSpPr>
        <p:spPr>
          <a:xfrm>
            <a:off x="457200" y="4169664"/>
            <a:ext cx="2743200" cy="402336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clickhouse.com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